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f14893f3-42cc-1256-8012-7f74adccc457}">
          <p14:sldIdLst>
            <p14:sldId id="256"/>
          </p14:sldIdLst>
        </p14:section>
        <p14:section name="Solution" id="{e75dd68f-20b3-86c3-cad3-9a7d085e436f}">
          <p14:sldIdLst>
            <p14:sldId id="257"/>
          </p14:sldIdLst>
        </p14:section>
        <p14:section name="How it works" id="{22c8ed49-637c-766d-31a8-31056576d36f}">
          <p14:sldIdLst>
            <p14:sldId id="258"/>
          </p14:sldIdLst>
        </p14:section>
        <p14:section name="Business" id="{f4d831a6-faa1-ef18-062a-c61e6b5a027b}">
          <p14:sldIdLst>
            <p14:sldId id="259"/>
          </p14:sldIdLst>
        </p14:section>
        <p14:section name="Team" id="{049d5422-ecf1-1fbe-4363-ca44cf094cfa}">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A1C"/>
                </a:solidFill>
                <a:latin typeface="+mn-lt"/>
              </a:defRPr>
            </a:pPr>
            <a:r>
              <a:rPr sz="1400" b="0" i="0" u="none" strike="noStrike">
                <a:solidFill>
                  <a:srgbClr val="1D2A1C"/>
                </a:solidFill>
                <a:latin typeface="+mn-lt"/>
              </a:rPr>
              <a:t>Migration cost, Tk lakh</a:t>
            </a:r>
          </a:p>
        </c:rich>
      </c:tx>
      <c:layout/>
      <c:overlay val="0"/>
    </c:title>
    <c:autoTitleDeleted val="0"/>
    <c:plotArea>
      <c:layout/>
      <c:barChart>
        <c:barDir val="col"/>
        <c:grouping val="clustered"/>
        <c:varyColors val="0"/>
        <c:ser>
          <c:idx val="0"/>
          <c:order val="0"/>
          <c:tx>
            <c:strRef>
              <c:f>Sheet1!$B$1</c:f>
              <c:strCache>
                <c:ptCount val="1"/>
                <c:pt idx="0">
                  <c:v>Official ceiling</c:v>
                </c:pt>
              </c:strCache>
            </c:strRef>
          </c:tx>
          <c:spPr>
            <a:solidFill>
              <a:srgbClr val="A4AC86"/>
            </a:solidFill>
            <a:effectLst/>
          </c:spPr>
          <c:invertIfNegative val="0"/>
          <c:dLbls>
            <c:numFmt formatCode="0.0" sourceLinked="0"/>
            <c:txPr>
              <a:bodyPr/>
              <a:lstStyle/>
              <a:p>
                <a:pPr>
                  <a:defRPr b="0" i="0" strike="noStrike" sz="1100" u="none">
                    <a:solidFill>
                      <a:srgbClr val="1D2A1C"/>
                    </a:solidFill>
                    <a:latin typeface="+mn-lt"/>
                  </a:defRPr>
                </a:pPr>
              </a:p>
            </c:txPr>
            <c:showLegendKey val="0"/>
            <c:showVal val="1"/>
            <c:showCatName val="0"/>
            <c:showSerName val="0"/>
            <c:showPercent val="0"/>
            <c:showBubbleSize val="0"/>
            <c:showLeaderLines val="0"/>
          </c:dLbls>
          <c:cat>
            <c:multiLvlStrRef>
              <c:f>Sheet1!$A$2:$A$4</c:f>
              <c:multiLvlStrCache>
                <c:ptCount val="3"/>
                <c:lvl>
                  <c:pt idx="0">
                    <c:v>Malaysia</c:v>
                  </c:pt>
                  <c:pt idx="1">
                    <c:v>Saudi Arabia</c:v>
                  </c:pt>
                  <c:pt idx="2">
                    <c:v>Singapore</c:v>
                  </c:pt>
                </c:lvl>
              </c:multiLvlStrCache>
            </c:multiLvlStrRef>
          </c:cat>
          <c:val>
            <c:numRef>
              <c:f>Sheet1!$B$2:$B$4</c:f>
              <c:numCache>
                <c:formatCode>General</c:formatCode>
                <c:ptCount val="3"/>
                <c:pt idx="0">
                  <c:v>0.79</c:v>
                </c:pt>
                <c:pt idx="1">
                  <c:v>1.65</c:v>
                </c:pt>
                <c:pt idx="2">
                  <c:v>2.62</c:v>
                </c:pt>
              </c:numCache>
            </c:numRef>
          </c:val>
        </c:ser>
        <c:ser>
          <c:idx val="1"/>
          <c:order val="1"/>
          <c:tx>
            <c:strRef>
              <c:f>Sheet1!$C$1</c:f>
              <c:strCache>
                <c:ptCount val="1"/>
                <c:pt idx="0">
                  <c:v>What workers report paying</c:v>
                </c:pt>
              </c:strCache>
            </c:strRef>
          </c:tx>
          <c:spPr>
            <a:solidFill>
              <a:srgbClr val="B5452F"/>
            </a:solidFill>
            <a:effectLst/>
          </c:spPr>
          <c:invertIfNegative val="0"/>
          <c:dLbls>
            <c:numFmt formatCode="0.0" sourceLinked="0"/>
            <c:txPr>
              <a:bodyPr/>
              <a:lstStyle/>
              <a:p>
                <a:pPr>
                  <a:defRPr b="0" i="0" strike="noStrike" sz="1100" u="none">
                    <a:solidFill>
                      <a:srgbClr val="1D2A1C"/>
                    </a:solidFill>
                    <a:latin typeface="+mn-lt"/>
                  </a:defRPr>
                </a:pPr>
              </a:p>
            </c:txPr>
            <c:showLegendKey val="0"/>
            <c:showVal val="1"/>
            <c:showCatName val="0"/>
            <c:showSerName val="0"/>
            <c:showPercent val="0"/>
            <c:showBubbleSize val="0"/>
            <c:showLeaderLines val="0"/>
          </c:dLbls>
          <c:cat>
            <c:multiLvlStrRef>
              <c:f>Sheet1!$A$2:$A$4</c:f>
              <c:multiLvlStrCache>
                <c:ptCount val="3"/>
                <c:lvl>
                  <c:pt idx="0">
                    <c:v>Malaysia</c:v>
                  </c:pt>
                  <c:pt idx="1">
                    <c:v>Saudi Arabia</c:v>
                  </c:pt>
                  <c:pt idx="2">
                    <c:v>Singapore</c:v>
                  </c:pt>
                </c:lvl>
              </c:multiLvlStrCache>
            </c:multiLvlStrRef>
          </c:cat>
          <c:val>
            <c:numRef>
              <c:f>Sheet1!$C$2:$C$4</c:f>
              <c:numCache>
                <c:formatCode>General</c:formatCode>
                <c:ptCount val="3"/>
                <c:pt idx="0">
                  <c:v>4.25</c:v>
                </c:pt>
                <c:pt idx="1">
                  <c:v>4.36</c:v>
                </c:pt>
                <c:pt idx="2">
                  <c:v>5.74</c:v>
                </c:pt>
              </c:numCache>
            </c:numRef>
          </c:val>
        </c:ser>
        <c:dLbls>
          <c:numFmt formatCode="0.0" sourceLinked="0"/>
          <c:txPr>
            <a:bodyPr/>
            <a:lstStyle/>
            <a:p>
              <a:pPr>
                <a:defRPr b="0" i="0" strike="noStrike" sz="1100" u="none">
                  <a:solidFill>
                    <a:srgbClr val="1D2A1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2A1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D2A1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Bangladesh runs on remittances, but workers pay several times the government ceiling, mostly to middlemen (dalals). Sources: OKUP study via Dhaka Tribune (Saudi Tk 4.36 lakh, Singapore Tk 5.74 lakh); Malaysia midpoint of Tk 3.5–5 lakh reported vs Tk 78,990 set in 2021. Ceilings from Ministry of Expatriates' Welfare circulars. Government apps (Ami Probashi) handle registration, but nobody checks the offer itself before money changes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features: the Offer Checker is the hero. Demo the sample scam offer live: free visa, Tk 6.5 lakh, passport to a dalal. It comes back red with 9 reasons in Bangla.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design: Claude reads messy documents and writes in Bangla; a deterministic rule engine owns the verdict, so it is explainable and cannot be bought. Unit cost per AI report is about Tk 10-20.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never depends on which agency the worker picks, which removes the conflict of interest dalals have. Year-1 illustration: 1% of ~11 lakh migrants x Tk 299 = Tk 33 lakh from reports alone. Assumptions, not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 the participant card with your full name, university/role and photo before submitting. Replace the live demo line with your Vercel URL. Ask: judges' introductions to migrant NGOs (BRAC Migration Programme, OKUP, WARBE) for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11887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000" dirty="0">
                <a:solidFill>
                  <a:schemeClr val="accent2"/>
                </a:solidFill>
              </a:rPr>
              <a:t>Built for YUNet AIgnite Buildathon 2026</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000" dirty="0">
                <a:solidFill>
                  <a:schemeClr val="accent4"/>
                </a:solidFill>
              </a:rPr>
              <a:t>Probashi AI · Built for YUNet AIgnite Buildathon 2026</a:t>
            </a:r>
            <a:endParaRPr lang="en-US" sz="10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1188720"/>
          </a:xfrm>
          <a:prstGeom prst="rect">
            <a:avLst/>
          </a:prstGeom>
          <a:noFill/>
          <a:ln/>
        </p:spPr>
        <p:txBody>
          <a:bodyPr wrap="square" lIns="0" tIns="0" rIns="0" bIns="0" rtlCol="0" anchor="t"/>
          <a:lstStyle/>
          <a:p>
            <a:pPr indent="0" marL="0">
              <a:buNone/>
            </a:pPr>
            <a:r>
              <a:rPr lang="en-US" sz="3600" b="1" dirty="0">
                <a:solidFill>
                  <a:schemeClr val="bg1"/>
                </a:solidFill>
              </a:rPr>
              <a:t>Bangladeshi workers pay up to 5× the legal price just to leave home</a:t>
            </a:r>
            <a:endParaRPr lang="en-US" sz="3600" dirty="0"/>
          </a:p>
        </p:txBody>
      </p:sp>
      <p:sp>
        <p:nvSpPr>
          <p:cNvPr id="3" name="stat 1 value"/>
          <p:cNvSpPr txBox="1"/>
          <p:nvPr/>
        </p:nvSpPr>
        <p:spPr>
          <a:xfrm>
            <a:off x="548640" y="1828800"/>
            <a:ext cx="265176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11.3 lakh</a:t>
            </a:r>
            <a:endParaRPr lang="en-US" sz="4000" dirty="0"/>
          </a:p>
        </p:txBody>
      </p:sp>
      <p:sp>
        <p:nvSpPr>
          <p:cNvPr id="4" name="stat 1 label"/>
          <p:cNvSpPr txBox="1"/>
          <p:nvPr/>
        </p:nvSpPr>
        <p:spPr>
          <a:xfrm>
            <a:off x="3246120" y="1874520"/>
            <a:ext cx="2651760" cy="822960"/>
          </a:xfrm>
          <a:prstGeom prst="rect">
            <a:avLst/>
          </a:prstGeom>
          <a:noFill/>
          <a:ln/>
        </p:spPr>
        <p:txBody>
          <a:bodyPr wrap="square" lIns="0" tIns="0" rIns="0" bIns="0" rtlCol="0" anchor="t"/>
          <a:lstStyle/>
          <a:p>
            <a:pPr indent="0" marL="0">
              <a:buNone/>
            </a:pPr>
            <a:r>
              <a:rPr lang="en-US" sz="1500" dirty="0">
                <a:solidFill>
                  <a:schemeClr val="bg1"/>
                </a:solidFill>
              </a:rPr>
              <a:t>went abroad for work in 2025</a:t>
            </a:r>
            <a:endParaRPr lang="en-US" sz="1500" dirty="0"/>
          </a:p>
          <a:p>
            <a:pPr indent="0" marL="0">
              <a:buNone/>
            </a:pPr>
            <a:r>
              <a:rPr lang="en-US" sz="1100" dirty="0">
                <a:solidFill>
                  <a:schemeClr val="accent2"/>
                </a:solidFill>
              </a:rPr>
              <a:t>BMET / RMMRU</a:t>
            </a:r>
            <a:endParaRPr lang="en-US" sz="1500" dirty="0"/>
          </a:p>
        </p:txBody>
      </p:sp>
      <p:sp>
        <p:nvSpPr>
          <p:cNvPr id="5" name="stat 2 value"/>
          <p:cNvSpPr txBox="1"/>
          <p:nvPr/>
        </p:nvSpPr>
        <p:spPr>
          <a:xfrm>
            <a:off x="548640" y="3246120"/>
            <a:ext cx="265176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$35.6B</a:t>
            </a:r>
            <a:endParaRPr lang="en-US" sz="4000" dirty="0"/>
          </a:p>
        </p:txBody>
      </p:sp>
      <p:sp>
        <p:nvSpPr>
          <p:cNvPr id="6" name="stat 2 label"/>
          <p:cNvSpPr txBox="1"/>
          <p:nvPr/>
        </p:nvSpPr>
        <p:spPr>
          <a:xfrm>
            <a:off x="3246120" y="3291840"/>
            <a:ext cx="2651760" cy="822960"/>
          </a:xfrm>
          <a:prstGeom prst="rect">
            <a:avLst/>
          </a:prstGeom>
          <a:noFill/>
          <a:ln/>
        </p:spPr>
        <p:txBody>
          <a:bodyPr wrap="square" lIns="0" tIns="0" rIns="0" bIns="0" rtlCol="0" anchor="t"/>
          <a:lstStyle/>
          <a:p>
            <a:pPr indent="0" marL="0">
              <a:buNone/>
            </a:pPr>
            <a:r>
              <a:rPr lang="en-US" sz="1500" dirty="0">
                <a:solidFill>
                  <a:schemeClr val="bg1"/>
                </a:solidFill>
              </a:rPr>
              <a:t>remittance in FY2025-26, a record</a:t>
            </a:r>
            <a:endParaRPr lang="en-US" sz="1500" dirty="0"/>
          </a:p>
          <a:p>
            <a:pPr indent="0" marL="0">
              <a:buNone/>
            </a:pPr>
            <a:r>
              <a:rPr lang="en-US" sz="1100" dirty="0">
                <a:solidFill>
                  <a:schemeClr val="accent2"/>
                </a:solidFill>
              </a:rPr>
              <a:t>Bangladesh Bank</a:t>
            </a:r>
            <a:endParaRPr lang="en-US" sz="1500" dirty="0"/>
          </a:p>
        </p:txBody>
      </p:sp>
      <p:sp>
        <p:nvSpPr>
          <p:cNvPr id="7" name="stat 3 value"/>
          <p:cNvSpPr txBox="1"/>
          <p:nvPr/>
        </p:nvSpPr>
        <p:spPr>
          <a:xfrm>
            <a:off x="548640" y="4663440"/>
            <a:ext cx="265176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24%</a:t>
            </a:r>
            <a:endParaRPr lang="en-US" sz="4000" dirty="0"/>
          </a:p>
        </p:txBody>
      </p:sp>
      <p:sp>
        <p:nvSpPr>
          <p:cNvPr id="8" name="stat 3 label"/>
          <p:cNvSpPr txBox="1"/>
          <p:nvPr/>
        </p:nvSpPr>
        <p:spPr>
          <a:xfrm>
            <a:off x="3246120" y="4709160"/>
            <a:ext cx="2651760" cy="822960"/>
          </a:xfrm>
          <a:prstGeom prst="rect">
            <a:avLst/>
          </a:prstGeom>
          <a:noFill/>
          <a:ln/>
        </p:spPr>
        <p:txBody>
          <a:bodyPr wrap="square" lIns="0" tIns="0" rIns="0" bIns="0" rtlCol="0" anchor="t"/>
          <a:lstStyle/>
          <a:p>
            <a:pPr indent="0" marL="0">
              <a:buNone/>
            </a:pPr>
            <a:r>
              <a:rPr lang="en-US" sz="1500" dirty="0">
                <a:solidFill>
                  <a:schemeClr val="bg1"/>
                </a:solidFill>
              </a:rPr>
              <a:t>of complainants with permits got the promised job</a:t>
            </a:r>
            <a:endParaRPr lang="en-US" sz="1500" dirty="0"/>
          </a:p>
          <a:p>
            <a:pPr indent="0" marL="0">
              <a:buNone/>
            </a:pPr>
            <a:r>
              <a:rPr lang="en-US" sz="1100" dirty="0">
                <a:solidFill>
                  <a:schemeClr val="accent2"/>
                </a:solidFill>
              </a:rPr>
              <a:t>BMET arbitration study</a:t>
            </a:r>
            <a:endParaRPr lang="en-US" sz="1500" dirty="0"/>
          </a:p>
        </p:txBody>
      </p:sp>
      <p:sp>
        <p:nvSpPr>
          <p:cNvPr id="9" name="chart card"/>
          <p:cNvSpPr/>
          <p:nvPr/>
        </p:nvSpPr>
        <p:spPr>
          <a:xfrm>
            <a:off x="6309360" y="1783080"/>
            <a:ext cx="5303520" cy="4297680"/>
          </a:xfrm>
          <a:prstGeom prst="roundRect">
            <a:avLst>
              <a:gd name="adj" fmla="val 255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graphicFrame>
        <p:nvGraphicFramePr>
          <p:cNvPr id="10" name="Chart 0" descr=""/>
          <p:cNvGraphicFramePr/>
          <p:nvPr/>
        </p:nvGraphicFramePr>
        <p:xfrm>
          <a:off x="6446520" y="1874520"/>
          <a:ext cx="5029200" cy="4114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lIns="0" tIns="0" rIns="0" bIns="0" rtlCol="0" anchor="t"/>
          <a:lstStyle/>
          <a:p>
            <a:pPr indent="0" marL="0">
              <a:buNone/>
            </a:pPr>
            <a:r>
              <a:rPr lang="en-US" sz="3600" b="1" dirty="0">
                <a:solidFill>
                  <a:schemeClr val="tx2"/>
                </a:solidFill>
              </a:rPr>
              <a:t>Probashi AI checks the offer before the money changes hands</a:t>
            </a:r>
            <a:endParaRPr lang="en-US" sz="3600" dirty="0"/>
          </a:p>
        </p:txBody>
      </p:sp>
      <p:sp>
        <p:nvSpPr>
          <p:cNvPr id="3" name="feature 1 card"/>
          <p:cNvSpPr/>
          <p:nvPr/>
        </p:nvSpPr>
        <p:spPr>
          <a:xfrm>
            <a:off x="548640" y="1600200"/>
            <a:ext cx="3383280" cy="2103120"/>
          </a:xfrm>
          <a:prstGeom prst="roundRect">
            <a:avLst>
              <a:gd name="adj" fmla="val 5217"/>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4" name="feature 1 circle"/>
          <p:cNvSpPr/>
          <p:nvPr/>
        </p:nvSpPr>
        <p:spPr>
          <a:xfrm>
            <a:off x="822960" y="1874520"/>
            <a:ext cx="640080" cy="640080"/>
          </a:xfrm>
          <a:prstGeom prst="ellipse">
            <a:avLst/>
          </a:prstGeom>
          <a:solidFill>
            <a:srgbClr val="2D4A2B"/>
          </a:solidFill>
          <a:ln w="12700">
            <a:solidFill>
              <a:srgbClr val="2D4A2B"/>
            </a:solidFill>
            <a:prstDash val="solid"/>
          </a:ln>
        </p:spPr>
      </p:sp>
      <p:pic>
        <p:nvPicPr>
          <p:cNvPr id="5" name="feature 1 icon" descr="feature 1">    </p:cNvPr>
          <p:cNvPicPr>
            <a:picLocks noChangeAspect="1"/>
          </p:cNvPicPr>
          <p:nvPr/>
        </p:nvPicPr>
        <p:blipFill>
          <a:blip r:embed="rId1"/>
          <a:stretch>
            <a:fillRect/>
          </a:stretch>
        </p:blipFill>
        <p:spPr>
          <a:xfrm>
            <a:off x="976579" y="2028139"/>
            <a:ext cx="332842" cy="332842"/>
          </a:xfrm>
          <a:prstGeom prst="rect">
            <a:avLst/>
          </a:prstGeom>
        </p:spPr>
      </p:pic>
      <p:sp>
        <p:nvSpPr>
          <p:cNvPr id="6" name="Text 3"/>
          <p:cNvSpPr txBox="1"/>
          <p:nvPr/>
        </p:nvSpPr>
        <p:spPr>
          <a:xfrm>
            <a:off x="1600200" y="1874520"/>
            <a:ext cx="2194560" cy="640080"/>
          </a:xfrm>
          <a:prstGeom prst="rect">
            <a:avLst/>
          </a:prstGeom>
          <a:noFill/>
          <a:ln/>
        </p:spPr>
        <p:txBody>
          <a:bodyPr wrap="square" lIns="0" tIns="0" rIns="0" bIns="0" rtlCol="0" anchor="ctr"/>
          <a:lstStyle/>
          <a:p>
            <a:pPr indent="0" marL="0">
              <a:buNone/>
            </a:pPr>
            <a:r>
              <a:rPr lang="en-US" sz="1700" b="1" dirty="0">
                <a:solidFill>
                  <a:schemeClr val="tx2"/>
                </a:solidFill>
              </a:rPr>
              <a:t>Offer Checker</a:t>
            </a:r>
            <a:endParaRPr lang="en-US" sz="1700" dirty="0"/>
          </a:p>
        </p:txBody>
      </p:sp>
      <p:sp>
        <p:nvSpPr>
          <p:cNvPr id="7" name="Text 4"/>
          <p:cNvSpPr txBox="1"/>
          <p:nvPr/>
        </p:nvSpPr>
        <p:spPr>
          <a:xfrm>
            <a:off x="822960" y="2606040"/>
            <a:ext cx="2880360" cy="1005840"/>
          </a:xfrm>
          <a:prstGeom prst="rect">
            <a:avLst/>
          </a:prstGeom>
          <a:noFill/>
          <a:ln/>
        </p:spPr>
        <p:txBody>
          <a:bodyPr wrap="square" lIns="0" tIns="0" rIns="0" bIns="0" rtlCol="0" anchor="t"/>
          <a:lstStyle/>
          <a:p>
            <a:pPr indent="0" marL="0">
              <a:buNone/>
            </a:pPr>
            <a:r>
              <a:rPr lang="en-US" sz="1300" dirty="0">
                <a:solidFill>
                  <a:schemeClr val="tx1"/>
                </a:solidFill>
              </a:rPr>
              <a:t>Snap a visa, contract or WhatsApp offer. AI reads it and flags fraud, overcharging and visa tricks in plain Bangla.</a:t>
            </a:r>
            <a:endParaRPr lang="en-US" sz="1300" dirty="0"/>
          </a:p>
        </p:txBody>
      </p:sp>
      <p:sp>
        <p:nvSpPr>
          <p:cNvPr id="8" name="feature 2 card"/>
          <p:cNvSpPr/>
          <p:nvPr/>
        </p:nvSpPr>
        <p:spPr>
          <a:xfrm>
            <a:off x="4160520" y="1600200"/>
            <a:ext cx="3383280" cy="2103120"/>
          </a:xfrm>
          <a:prstGeom prst="roundRect">
            <a:avLst>
              <a:gd name="adj" fmla="val 5217"/>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9" name="feature 2 circle"/>
          <p:cNvSpPr/>
          <p:nvPr/>
        </p:nvSpPr>
        <p:spPr>
          <a:xfrm>
            <a:off x="4434840" y="1874520"/>
            <a:ext cx="640080" cy="640080"/>
          </a:xfrm>
          <a:prstGeom prst="ellipse">
            <a:avLst/>
          </a:prstGeom>
          <a:solidFill>
            <a:srgbClr val="2D4A2B"/>
          </a:solidFill>
          <a:ln w="12700">
            <a:solidFill>
              <a:srgbClr val="2D4A2B"/>
            </a:solidFill>
            <a:prstDash val="solid"/>
          </a:ln>
        </p:spPr>
      </p:sp>
      <p:pic>
        <p:nvPicPr>
          <p:cNvPr id="10" name="feature 2 icon" descr="feature 2">    </p:cNvPr>
          <p:cNvPicPr>
            <a:picLocks noChangeAspect="1"/>
          </p:cNvPicPr>
          <p:nvPr/>
        </p:nvPicPr>
        <p:blipFill>
          <a:blip r:embed="rId2"/>
          <a:stretch>
            <a:fillRect/>
          </a:stretch>
        </p:blipFill>
        <p:spPr>
          <a:xfrm>
            <a:off x="4588459" y="2028139"/>
            <a:ext cx="332842" cy="332842"/>
          </a:xfrm>
          <a:prstGeom prst="rect">
            <a:avLst/>
          </a:prstGeom>
        </p:spPr>
      </p:pic>
      <p:sp>
        <p:nvSpPr>
          <p:cNvPr id="11" name="Text 7"/>
          <p:cNvSpPr txBox="1"/>
          <p:nvPr/>
        </p:nvSpPr>
        <p:spPr>
          <a:xfrm>
            <a:off x="5212080" y="1874520"/>
            <a:ext cx="2194560" cy="640080"/>
          </a:xfrm>
          <a:prstGeom prst="rect">
            <a:avLst/>
          </a:prstGeom>
          <a:noFill/>
          <a:ln/>
        </p:spPr>
        <p:txBody>
          <a:bodyPr wrap="square" lIns="0" tIns="0" rIns="0" bIns="0" rtlCol="0" anchor="ctr"/>
          <a:lstStyle/>
          <a:p>
            <a:pPr indent="0" marL="0">
              <a:buNone/>
            </a:pPr>
            <a:r>
              <a:rPr lang="en-US" sz="1700" b="1" dirty="0">
                <a:solidFill>
                  <a:schemeClr val="tx2"/>
                </a:solidFill>
              </a:rPr>
              <a:t>True cost calculator</a:t>
            </a:r>
            <a:endParaRPr lang="en-US" sz="1700" dirty="0"/>
          </a:p>
        </p:txBody>
      </p:sp>
      <p:sp>
        <p:nvSpPr>
          <p:cNvPr id="12" name="Text 8"/>
          <p:cNvSpPr txBox="1"/>
          <p:nvPr/>
        </p:nvSpPr>
        <p:spPr>
          <a:xfrm>
            <a:off x="4434840" y="2606040"/>
            <a:ext cx="2880360" cy="1005840"/>
          </a:xfrm>
          <a:prstGeom prst="rect">
            <a:avLst/>
          </a:prstGeom>
          <a:noFill/>
          <a:ln/>
        </p:spPr>
        <p:txBody>
          <a:bodyPr wrap="square" lIns="0" tIns="0" rIns="0" bIns="0" rtlCol="0" anchor="t"/>
          <a:lstStyle/>
          <a:p>
            <a:pPr indent="0" marL="0">
              <a:buNone/>
            </a:pPr>
            <a:r>
              <a:rPr lang="en-US" sz="1300" dirty="0">
                <a:solidFill>
                  <a:schemeClr val="tx1"/>
                </a:solidFill>
              </a:rPr>
              <a:t>Official ceiling vs. what you're asked, debt payoff months, and take-home after the contract.</a:t>
            </a:r>
            <a:endParaRPr lang="en-US" sz="1300" dirty="0"/>
          </a:p>
        </p:txBody>
      </p:sp>
      <p:sp>
        <p:nvSpPr>
          <p:cNvPr id="13" name="feature 3 card"/>
          <p:cNvSpPr/>
          <p:nvPr/>
        </p:nvSpPr>
        <p:spPr>
          <a:xfrm>
            <a:off x="548640" y="3931920"/>
            <a:ext cx="3383280" cy="2103120"/>
          </a:xfrm>
          <a:prstGeom prst="roundRect">
            <a:avLst>
              <a:gd name="adj" fmla="val 5217"/>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14" name="feature 3 circle"/>
          <p:cNvSpPr/>
          <p:nvPr/>
        </p:nvSpPr>
        <p:spPr>
          <a:xfrm>
            <a:off x="822960" y="4206240"/>
            <a:ext cx="640080" cy="640080"/>
          </a:xfrm>
          <a:prstGeom prst="ellipse">
            <a:avLst/>
          </a:prstGeom>
          <a:solidFill>
            <a:srgbClr val="2D4A2B"/>
          </a:solidFill>
          <a:ln w="12700">
            <a:solidFill>
              <a:srgbClr val="2D4A2B"/>
            </a:solidFill>
            <a:prstDash val="solid"/>
          </a:ln>
        </p:spPr>
      </p:sp>
      <p:pic>
        <p:nvPicPr>
          <p:cNvPr id="15" name="feature 3 icon" descr="feature 3">    </p:cNvPr>
          <p:cNvPicPr>
            <a:picLocks noChangeAspect="1"/>
          </p:cNvPicPr>
          <p:nvPr/>
        </p:nvPicPr>
        <p:blipFill>
          <a:blip r:embed="rId3"/>
          <a:stretch>
            <a:fillRect/>
          </a:stretch>
        </p:blipFill>
        <p:spPr>
          <a:xfrm>
            <a:off x="976579" y="4359859"/>
            <a:ext cx="332842" cy="332842"/>
          </a:xfrm>
          <a:prstGeom prst="rect">
            <a:avLst/>
          </a:prstGeom>
        </p:spPr>
      </p:pic>
      <p:sp>
        <p:nvSpPr>
          <p:cNvPr id="16" name="Text 11"/>
          <p:cNvSpPr txBox="1"/>
          <p:nvPr/>
        </p:nvSpPr>
        <p:spPr>
          <a:xfrm>
            <a:off x="1600200" y="4206240"/>
            <a:ext cx="2194560" cy="640080"/>
          </a:xfrm>
          <a:prstGeom prst="rect">
            <a:avLst/>
          </a:prstGeom>
          <a:noFill/>
          <a:ln/>
        </p:spPr>
        <p:txBody>
          <a:bodyPr wrap="square" lIns="0" tIns="0" rIns="0" bIns="0" rtlCol="0" anchor="ctr"/>
          <a:lstStyle/>
          <a:p>
            <a:pPr indent="0" marL="0">
              <a:buNone/>
            </a:pPr>
            <a:r>
              <a:rPr lang="en-US" sz="1700" b="1" dirty="0">
                <a:solidFill>
                  <a:schemeClr val="tx2"/>
                </a:solidFill>
              </a:rPr>
              <a:t>Agency licence check</a:t>
            </a:r>
            <a:endParaRPr lang="en-US" sz="1700" dirty="0"/>
          </a:p>
        </p:txBody>
      </p:sp>
      <p:sp>
        <p:nvSpPr>
          <p:cNvPr id="17" name="Text 12"/>
          <p:cNvSpPr txBox="1"/>
          <p:nvPr/>
        </p:nvSpPr>
        <p:spPr>
          <a:xfrm>
            <a:off x="822960" y="4937760"/>
            <a:ext cx="2880360" cy="1005840"/>
          </a:xfrm>
          <a:prstGeom prst="rect">
            <a:avLst/>
          </a:prstGeom>
          <a:noFill/>
          <a:ln/>
        </p:spPr>
        <p:txBody>
          <a:bodyPr wrap="square" lIns="0" tIns="0" rIns="0" bIns="0" rtlCol="0" anchor="t"/>
          <a:lstStyle/>
          <a:p>
            <a:pPr indent="0" marL="0">
              <a:buNone/>
            </a:pPr>
            <a:r>
              <a:rPr lang="en-US" sz="1300" dirty="0">
                <a:solidFill>
                  <a:schemeClr val="tx1"/>
                </a:solidFill>
              </a:rPr>
              <a:t>RL number, licence status and verified complaints. Sponsored agencies can't buy a better score.</a:t>
            </a:r>
            <a:endParaRPr lang="en-US" sz="1300" dirty="0"/>
          </a:p>
        </p:txBody>
      </p:sp>
      <p:sp>
        <p:nvSpPr>
          <p:cNvPr id="18" name="feature 4 card"/>
          <p:cNvSpPr/>
          <p:nvPr/>
        </p:nvSpPr>
        <p:spPr>
          <a:xfrm>
            <a:off x="4160520" y="3931920"/>
            <a:ext cx="3383280" cy="2103120"/>
          </a:xfrm>
          <a:prstGeom prst="roundRect">
            <a:avLst>
              <a:gd name="adj" fmla="val 5217"/>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19" name="feature 4 circle"/>
          <p:cNvSpPr/>
          <p:nvPr/>
        </p:nvSpPr>
        <p:spPr>
          <a:xfrm>
            <a:off x="4434840" y="4206240"/>
            <a:ext cx="640080" cy="640080"/>
          </a:xfrm>
          <a:prstGeom prst="ellipse">
            <a:avLst/>
          </a:prstGeom>
          <a:solidFill>
            <a:srgbClr val="2D4A2B"/>
          </a:solidFill>
          <a:ln w="12700">
            <a:solidFill>
              <a:srgbClr val="2D4A2B"/>
            </a:solidFill>
            <a:prstDash val="solid"/>
          </a:ln>
        </p:spPr>
      </p:sp>
      <p:pic>
        <p:nvPicPr>
          <p:cNvPr id="20" name="feature 4 icon" descr="feature 4">    </p:cNvPr>
          <p:cNvPicPr>
            <a:picLocks noChangeAspect="1"/>
          </p:cNvPicPr>
          <p:nvPr/>
        </p:nvPicPr>
        <p:blipFill>
          <a:blip r:embed="rId4"/>
          <a:stretch>
            <a:fillRect/>
          </a:stretch>
        </p:blipFill>
        <p:spPr>
          <a:xfrm>
            <a:off x="4588459" y="4359859"/>
            <a:ext cx="332842" cy="332842"/>
          </a:xfrm>
          <a:prstGeom prst="rect">
            <a:avLst/>
          </a:prstGeom>
        </p:spPr>
      </p:pic>
      <p:sp>
        <p:nvSpPr>
          <p:cNvPr id="21" name="Text 15"/>
          <p:cNvSpPr txBox="1"/>
          <p:nvPr/>
        </p:nvSpPr>
        <p:spPr>
          <a:xfrm>
            <a:off x="5212080" y="4206240"/>
            <a:ext cx="2194560" cy="640080"/>
          </a:xfrm>
          <a:prstGeom prst="rect">
            <a:avLst/>
          </a:prstGeom>
          <a:noFill/>
          <a:ln/>
        </p:spPr>
        <p:txBody>
          <a:bodyPr wrap="square" lIns="0" tIns="0" rIns="0" bIns="0" rtlCol="0" anchor="ctr"/>
          <a:lstStyle/>
          <a:p>
            <a:pPr indent="0" marL="0">
              <a:buNone/>
            </a:pPr>
            <a:r>
              <a:rPr lang="en-US" sz="1700" b="1" dirty="0">
                <a:solidFill>
                  <a:schemeClr val="tx2"/>
                </a:solidFill>
              </a:rPr>
              <a:t>Ask by voice in Bangla</a:t>
            </a:r>
            <a:endParaRPr lang="en-US" sz="1700" dirty="0"/>
          </a:p>
        </p:txBody>
      </p:sp>
      <p:sp>
        <p:nvSpPr>
          <p:cNvPr id="22" name="Text 16"/>
          <p:cNvSpPr txBox="1"/>
          <p:nvPr/>
        </p:nvSpPr>
        <p:spPr>
          <a:xfrm>
            <a:off x="4434840" y="4937760"/>
            <a:ext cx="2880360" cy="1005840"/>
          </a:xfrm>
          <a:prstGeom prst="rect">
            <a:avLst/>
          </a:prstGeom>
          <a:noFill/>
          <a:ln/>
        </p:spPr>
        <p:txBody>
          <a:bodyPr wrap="square" lIns="0" tIns="0" rIns="0" bIns="0" rtlCol="0" anchor="t"/>
          <a:lstStyle/>
          <a:p>
            <a:pPr indent="0" marL="0">
              <a:buNone/>
            </a:pPr>
            <a:r>
              <a:rPr lang="en-US" sz="1300" dirty="0">
                <a:solidFill>
                  <a:schemeClr val="tx1"/>
                </a:solidFill>
              </a:rPr>
              <a:t>Low-literacy friendly. Answers cite sources and surface the 16135 helpline in emergencies.</a:t>
            </a:r>
            <a:endParaRPr lang="en-US" sz="1300" dirty="0"/>
          </a:p>
        </p:txBody>
      </p:sp>
      <p:sp>
        <p:nvSpPr>
          <p:cNvPr id="23" name="verdict mock"/>
          <p:cNvSpPr/>
          <p:nvPr/>
        </p:nvSpPr>
        <p:spPr>
          <a:xfrm>
            <a:off x="7909560" y="1600200"/>
            <a:ext cx="3703320" cy="4434840"/>
          </a:xfrm>
          <a:prstGeom prst="roundRect">
            <a:avLst>
              <a:gd name="adj" fmla="val 2963"/>
            </a:avLst>
          </a:prstGeom>
          <a:solidFill>
            <a:srgbClr val="2D4A2B"/>
          </a:solidFill>
          <a:ln w="12700">
            <a:solidFill>
              <a:srgbClr val="2D4A2B"/>
            </a:solidFill>
            <a:prstDash val="solid"/>
          </a:ln>
          <a:effectLst>
            <a:outerShdw sx="100000" sy="100000" kx="0" ky="0" algn="bl" rotWithShape="0" blurRad="76200" dist="25400" dir="5400000">
              <a:srgbClr val="000000">
                <a:alpha val="12000"/>
              </a:srgbClr>
            </a:outerShdw>
          </a:effectLst>
        </p:spPr>
      </p:sp>
      <p:sp>
        <p:nvSpPr>
          <p:cNvPr id="24" name="Text 18"/>
          <p:cNvSpPr txBox="1"/>
          <p:nvPr/>
        </p:nvSpPr>
        <p:spPr>
          <a:xfrm>
            <a:off x="8183880" y="1783080"/>
            <a:ext cx="3200400" cy="457200"/>
          </a:xfrm>
          <a:prstGeom prst="rect">
            <a:avLst/>
          </a:prstGeom>
          <a:noFill/>
          <a:ln/>
        </p:spPr>
        <p:txBody>
          <a:bodyPr wrap="square" lIns="0" tIns="0" rIns="0" bIns="0" rtlCol="0" anchor="ctr"/>
          <a:lstStyle/>
          <a:p>
            <a:pPr indent="0" marL="0">
              <a:buNone/>
            </a:pPr>
            <a:r>
              <a:rPr lang="en-US" sz="1600" b="1" dirty="0">
                <a:solidFill>
                  <a:schemeClr val="bg1"/>
                </a:solidFill>
              </a:rPr>
              <a:t>The result anyone can read</a:t>
            </a:r>
            <a:endParaRPr lang="en-US" sz="1600" dirty="0"/>
          </a:p>
        </p:txBody>
      </p:sp>
      <p:sp>
        <p:nvSpPr>
          <p:cNvPr id="25" name="signal Looks safe"/>
          <p:cNvSpPr/>
          <p:nvPr/>
        </p:nvSpPr>
        <p:spPr>
          <a:xfrm>
            <a:off x="8183880" y="2468880"/>
            <a:ext cx="731520" cy="731520"/>
          </a:xfrm>
          <a:prstGeom prst="ellipse">
            <a:avLst/>
          </a:prstGeom>
          <a:solidFill>
            <a:srgbClr val="2F7D3A"/>
          </a:solidFill>
          <a:ln w="19050">
            <a:solidFill>
              <a:srgbClr val="FFFFFF"/>
            </a:solidFill>
            <a:prstDash val="solid"/>
          </a:ln>
        </p:spPr>
      </p:sp>
      <p:sp>
        <p:nvSpPr>
          <p:cNvPr id="26" name="Text 20"/>
          <p:cNvSpPr txBox="1"/>
          <p:nvPr/>
        </p:nvSpPr>
        <p:spPr>
          <a:xfrm>
            <a:off x="9098280" y="2468880"/>
            <a:ext cx="2286000" cy="731520"/>
          </a:xfrm>
          <a:prstGeom prst="rect">
            <a:avLst/>
          </a:prstGeom>
          <a:noFill/>
          <a:ln/>
        </p:spPr>
        <p:txBody>
          <a:bodyPr wrap="square" lIns="0" tIns="0" rIns="0" bIns="0" rtlCol="0" anchor="ctr"/>
          <a:lstStyle/>
          <a:p>
            <a:pPr indent="0" marL="0">
              <a:buNone/>
            </a:pPr>
            <a:r>
              <a:rPr lang="en-US" sz="1600" b="1" dirty="0">
                <a:solidFill>
                  <a:schemeClr val="bg1"/>
                </a:solidFill>
              </a:rPr>
              <a:t>Looks safe</a:t>
            </a:r>
            <a:endParaRPr lang="en-US" sz="1600" dirty="0"/>
          </a:p>
          <a:p>
            <a:pPr indent="0" marL="0">
              <a:buNone/>
            </a:pPr>
            <a:r>
              <a:rPr lang="en-US" sz="1300" dirty="0">
                <a:solidFill>
                  <a:schemeClr val="accent2"/>
                </a:solidFill>
              </a:rPr>
              <a:t>verify with BMET</a:t>
            </a:r>
            <a:endParaRPr lang="en-US" sz="1600" dirty="0"/>
          </a:p>
        </p:txBody>
      </p:sp>
      <p:sp>
        <p:nvSpPr>
          <p:cNvPr id="27" name="signal Caution"/>
          <p:cNvSpPr/>
          <p:nvPr/>
        </p:nvSpPr>
        <p:spPr>
          <a:xfrm>
            <a:off x="8183880" y="3520440"/>
            <a:ext cx="731520" cy="731520"/>
          </a:xfrm>
          <a:prstGeom prst="ellipse">
            <a:avLst/>
          </a:prstGeom>
          <a:solidFill>
            <a:srgbClr val="D8A31A"/>
          </a:solidFill>
          <a:ln w="19050">
            <a:solidFill>
              <a:srgbClr val="FFFFFF"/>
            </a:solidFill>
            <a:prstDash val="solid"/>
          </a:ln>
        </p:spPr>
      </p:sp>
      <p:sp>
        <p:nvSpPr>
          <p:cNvPr id="28" name="Text 22"/>
          <p:cNvSpPr txBox="1"/>
          <p:nvPr/>
        </p:nvSpPr>
        <p:spPr>
          <a:xfrm>
            <a:off x="9098280" y="3520440"/>
            <a:ext cx="2286000" cy="731520"/>
          </a:xfrm>
          <a:prstGeom prst="rect">
            <a:avLst/>
          </a:prstGeom>
          <a:noFill/>
          <a:ln/>
        </p:spPr>
        <p:txBody>
          <a:bodyPr wrap="square" lIns="0" tIns="0" rIns="0" bIns="0" rtlCol="0" anchor="ctr"/>
          <a:lstStyle/>
          <a:p>
            <a:pPr indent="0" marL="0">
              <a:buNone/>
            </a:pPr>
            <a:r>
              <a:rPr lang="en-US" sz="1600" b="1" dirty="0">
                <a:solidFill>
                  <a:schemeClr val="bg1"/>
                </a:solidFill>
              </a:rPr>
              <a:t>Caution</a:t>
            </a:r>
            <a:endParaRPr lang="en-US" sz="1600" dirty="0"/>
          </a:p>
          <a:p>
            <a:pPr indent="0" marL="0">
              <a:buNone/>
            </a:pPr>
            <a:r>
              <a:rPr lang="en-US" sz="1300" dirty="0">
                <a:solidFill>
                  <a:schemeClr val="accent2"/>
                </a:solidFill>
              </a:rPr>
              <a:t>fix 2 issues first</a:t>
            </a:r>
            <a:endParaRPr lang="en-US" sz="1600" dirty="0"/>
          </a:p>
        </p:txBody>
      </p:sp>
      <p:sp>
        <p:nvSpPr>
          <p:cNvPr id="29" name="signal Danger"/>
          <p:cNvSpPr/>
          <p:nvPr/>
        </p:nvSpPr>
        <p:spPr>
          <a:xfrm>
            <a:off x="8183880" y="4572000"/>
            <a:ext cx="731520" cy="731520"/>
          </a:xfrm>
          <a:prstGeom prst="ellipse">
            <a:avLst/>
          </a:prstGeom>
          <a:solidFill>
            <a:srgbClr val="B5452F"/>
          </a:solidFill>
          <a:ln w="19050">
            <a:solidFill>
              <a:srgbClr val="FFFFFF"/>
            </a:solidFill>
            <a:prstDash val="solid"/>
          </a:ln>
        </p:spPr>
      </p:sp>
      <p:sp>
        <p:nvSpPr>
          <p:cNvPr id="30" name="Text 24"/>
          <p:cNvSpPr txBox="1"/>
          <p:nvPr/>
        </p:nvSpPr>
        <p:spPr>
          <a:xfrm>
            <a:off x="9098280" y="4572000"/>
            <a:ext cx="2286000" cy="731520"/>
          </a:xfrm>
          <a:prstGeom prst="rect">
            <a:avLst/>
          </a:prstGeom>
          <a:noFill/>
          <a:ln/>
        </p:spPr>
        <p:txBody>
          <a:bodyPr wrap="square" lIns="0" tIns="0" rIns="0" bIns="0" rtlCol="0" anchor="ctr"/>
          <a:lstStyle/>
          <a:p>
            <a:pPr indent="0" marL="0">
              <a:buNone/>
            </a:pPr>
            <a:r>
              <a:rPr lang="en-US" sz="1600" b="1" dirty="0">
                <a:solidFill>
                  <a:schemeClr val="bg1"/>
                </a:solidFill>
              </a:rPr>
              <a:t>Danger</a:t>
            </a:r>
            <a:endParaRPr lang="en-US" sz="1600" dirty="0"/>
          </a:p>
          <a:p>
            <a:pPr indent="0" marL="0">
              <a:buNone/>
            </a:pPr>
            <a:r>
              <a:rPr lang="en-US" sz="1300" dirty="0">
                <a:solidFill>
                  <a:schemeClr val="accent2"/>
                </a:solidFill>
              </a:rPr>
              <a:t>don't pay</a:t>
            </a:r>
            <a:endParaRPr lang="en-US" sz="1600" dirty="0"/>
          </a:p>
        </p:txBody>
      </p:sp>
      <p:sp>
        <p:nvSpPr>
          <p:cNvPr id="31" name="Text 25"/>
          <p:cNvSpPr txBox="1"/>
          <p:nvPr/>
        </p:nvSpPr>
        <p:spPr>
          <a:xfrm>
            <a:off x="8183880" y="5532120"/>
            <a:ext cx="3200400" cy="365760"/>
          </a:xfrm>
          <a:prstGeom prst="rect">
            <a:avLst/>
          </a:prstGeom>
          <a:noFill/>
          <a:ln/>
        </p:spPr>
        <p:txBody>
          <a:bodyPr wrap="square" lIns="0" tIns="0" rIns="0" bIns="0" rtlCol="0" anchor="ctr"/>
          <a:lstStyle/>
          <a:p>
            <a:pPr indent="0" marL="0">
              <a:buNone/>
            </a:pPr>
            <a:r>
              <a:rPr lang="en-US" sz="1200" i="1" dirty="0">
                <a:solidFill>
                  <a:schemeClr val="accent2"/>
                </a:solidFill>
              </a:rPr>
              <a:t>Score, reasons, sources, next steps</a:t>
            </a:r>
            <a:endParaRPr lang="en-US" sz="12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lIns="0" tIns="0" rIns="0" bIns="0" rtlCol="0" anchor="t"/>
          <a:lstStyle/>
          <a:p>
            <a:pPr indent="0" marL="0">
              <a:buNone/>
            </a:pPr>
            <a:r>
              <a:rPr lang="en-US" sz="3600" b="1" dirty="0">
                <a:solidFill>
                  <a:schemeClr val="tx2"/>
                </a:solidFill>
              </a:rPr>
              <a:t>AI reads the paper, transparent rules make the call</a:t>
            </a:r>
            <a:endParaRPr lang="en-US" sz="3600" dirty="0"/>
          </a:p>
        </p:txBody>
      </p:sp>
      <p:sp>
        <p:nvSpPr>
          <p:cNvPr id="3" name="step 1 circle"/>
          <p:cNvSpPr/>
          <p:nvPr/>
        </p:nvSpPr>
        <p:spPr>
          <a:xfrm>
            <a:off x="1417320" y="1645920"/>
            <a:ext cx="914400" cy="914400"/>
          </a:xfrm>
          <a:prstGeom prst="ellipse">
            <a:avLst/>
          </a:prstGeom>
          <a:solidFill>
            <a:srgbClr val="2D4A2B"/>
          </a:solidFill>
          <a:ln w="12700">
            <a:solidFill>
              <a:srgbClr val="2D4A2B"/>
            </a:solidFill>
            <a:prstDash val="solid"/>
          </a:ln>
        </p:spPr>
      </p:sp>
      <p:pic>
        <p:nvPicPr>
          <p:cNvPr id="4" name="step 1 icon" descr="step 1">    </p:cNvPr>
          <p:cNvPicPr>
            <a:picLocks noChangeAspect="1"/>
          </p:cNvPicPr>
          <p:nvPr/>
        </p:nvPicPr>
        <p:blipFill>
          <a:blip r:embed="rId1"/>
          <a:stretch>
            <a:fillRect/>
          </a:stretch>
        </p:blipFill>
        <p:spPr>
          <a:xfrm>
            <a:off x="1636776" y="1865376"/>
            <a:ext cx="475488" cy="475488"/>
          </a:xfrm>
          <a:prstGeom prst="rect">
            <a:avLst/>
          </a:prstGeom>
        </p:spPr>
      </p:pic>
      <p:sp>
        <p:nvSpPr>
          <p:cNvPr id="5" name="arrow 1"/>
          <p:cNvSpPr/>
          <p:nvPr/>
        </p:nvSpPr>
        <p:spPr>
          <a:xfrm>
            <a:off x="2651760" y="1938528"/>
            <a:ext cx="548640" cy="329184"/>
          </a:xfrm>
          <a:prstGeom prst="rightArrow">
            <a:avLst/>
          </a:prstGeom>
          <a:solidFill>
            <a:srgbClr val="A4AC86"/>
          </a:solidFill>
          <a:ln w="12700">
            <a:solidFill>
              <a:srgbClr val="A4AC86"/>
            </a:solidFill>
            <a:prstDash val="solid"/>
          </a:ln>
        </p:spPr>
      </p:sp>
      <p:sp>
        <p:nvSpPr>
          <p:cNvPr id="6" name="Text 3"/>
          <p:cNvSpPr txBox="1"/>
          <p:nvPr/>
        </p:nvSpPr>
        <p:spPr>
          <a:xfrm>
            <a:off x="548640" y="2697480"/>
            <a:ext cx="2651760" cy="411480"/>
          </a:xfrm>
          <a:prstGeom prst="rect">
            <a:avLst/>
          </a:prstGeom>
          <a:noFill/>
          <a:ln/>
        </p:spPr>
        <p:txBody>
          <a:bodyPr wrap="square" lIns="0" tIns="0" rIns="0" bIns="0" rtlCol="0" anchor="ctr"/>
          <a:lstStyle/>
          <a:p>
            <a:pPr algn="ctr" indent="0" marL="0">
              <a:buNone/>
            </a:pPr>
            <a:r>
              <a:rPr lang="en-US" sz="1700" b="1" dirty="0">
                <a:solidFill>
                  <a:schemeClr val="tx2"/>
                </a:solidFill>
              </a:rPr>
              <a:t>Upload or speak</a:t>
            </a:r>
            <a:endParaRPr lang="en-US" sz="1700" dirty="0"/>
          </a:p>
        </p:txBody>
      </p:sp>
      <p:sp>
        <p:nvSpPr>
          <p:cNvPr id="7" name="Text 4"/>
          <p:cNvSpPr txBox="1"/>
          <p:nvPr/>
        </p:nvSpPr>
        <p:spPr>
          <a:xfrm>
            <a:off x="640080" y="3108960"/>
            <a:ext cx="2468880" cy="822960"/>
          </a:xfrm>
          <a:prstGeom prst="rect">
            <a:avLst/>
          </a:prstGeom>
          <a:noFill/>
          <a:ln/>
        </p:spPr>
        <p:txBody>
          <a:bodyPr wrap="square" lIns="0" tIns="0" rIns="0" bIns="0" rtlCol="0" anchor="t"/>
          <a:lstStyle/>
          <a:p>
            <a:pPr algn="ctr" indent="0" marL="0">
              <a:buNone/>
            </a:pPr>
            <a:r>
              <a:rPr lang="en-US" sz="1300" dirty="0">
                <a:solidFill>
                  <a:schemeClr val="tx1"/>
                </a:solidFill>
              </a:rPr>
              <a:t>Photo/PDF of visa, contract, IPA, or a voice note</a:t>
            </a:r>
            <a:endParaRPr lang="en-US" sz="1300" dirty="0"/>
          </a:p>
        </p:txBody>
      </p:sp>
      <p:sp>
        <p:nvSpPr>
          <p:cNvPr id="8" name="step 2 circle"/>
          <p:cNvSpPr/>
          <p:nvPr/>
        </p:nvSpPr>
        <p:spPr>
          <a:xfrm>
            <a:off x="4251960" y="1645920"/>
            <a:ext cx="914400" cy="914400"/>
          </a:xfrm>
          <a:prstGeom prst="ellipse">
            <a:avLst/>
          </a:prstGeom>
          <a:solidFill>
            <a:srgbClr val="2D4A2B"/>
          </a:solidFill>
          <a:ln w="12700">
            <a:solidFill>
              <a:srgbClr val="2D4A2B"/>
            </a:solidFill>
            <a:prstDash val="solid"/>
          </a:ln>
        </p:spPr>
      </p:sp>
      <p:pic>
        <p:nvPicPr>
          <p:cNvPr id="9" name="step 2 icon" descr="step 2">    </p:cNvPr>
          <p:cNvPicPr>
            <a:picLocks noChangeAspect="1"/>
          </p:cNvPicPr>
          <p:nvPr/>
        </p:nvPicPr>
        <p:blipFill>
          <a:blip r:embed="rId2"/>
          <a:stretch>
            <a:fillRect/>
          </a:stretch>
        </p:blipFill>
        <p:spPr>
          <a:xfrm>
            <a:off x="4471416" y="1865376"/>
            <a:ext cx="475488" cy="475488"/>
          </a:xfrm>
          <a:prstGeom prst="rect">
            <a:avLst/>
          </a:prstGeom>
        </p:spPr>
      </p:pic>
      <p:sp>
        <p:nvSpPr>
          <p:cNvPr id="10" name="arrow 2"/>
          <p:cNvSpPr/>
          <p:nvPr/>
        </p:nvSpPr>
        <p:spPr>
          <a:xfrm>
            <a:off x="5486400" y="1938528"/>
            <a:ext cx="548640" cy="329184"/>
          </a:xfrm>
          <a:prstGeom prst="rightArrow">
            <a:avLst/>
          </a:prstGeom>
          <a:solidFill>
            <a:srgbClr val="A4AC86"/>
          </a:solidFill>
          <a:ln w="12700">
            <a:solidFill>
              <a:srgbClr val="A4AC86"/>
            </a:solidFill>
            <a:prstDash val="solid"/>
          </a:ln>
        </p:spPr>
      </p:sp>
      <p:sp>
        <p:nvSpPr>
          <p:cNvPr id="11" name="Text 7"/>
          <p:cNvSpPr txBox="1"/>
          <p:nvPr/>
        </p:nvSpPr>
        <p:spPr>
          <a:xfrm>
            <a:off x="3383280" y="2697480"/>
            <a:ext cx="2651760" cy="411480"/>
          </a:xfrm>
          <a:prstGeom prst="rect">
            <a:avLst/>
          </a:prstGeom>
          <a:noFill/>
          <a:ln/>
        </p:spPr>
        <p:txBody>
          <a:bodyPr wrap="square" lIns="0" tIns="0" rIns="0" bIns="0" rtlCol="0" anchor="ctr"/>
          <a:lstStyle/>
          <a:p>
            <a:pPr algn="ctr" indent="0" marL="0">
              <a:buNone/>
            </a:pPr>
            <a:r>
              <a:rPr lang="en-US" sz="1700" b="1" dirty="0">
                <a:solidFill>
                  <a:schemeClr val="tx2"/>
                </a:solidFill>
              </a:rPr>
              <a:t>Claude vision AI</a:t>
            </a:r>
            <a:endParaRPr lang="en-US" sz="1700" dirty="0"/>
          </a:p>
        </p:txBody>
      </p:sp>
      <p:sp>
        <p:nvSpPr>
          <p:cNvPr id="12" name="Text 8"/>
          <p:cNvSpPr txBox="1"/>
          <p:nvPr/>
        </p:nvSpPr>
        <p:spPr>
          <a:xfrm>
            <a:off x="3474720" y="3108960"/>
            <a:ext cx="2468880" cy="822960"/>
          </a:xfrm>
          <a:prstGeom prst="rect">
            <a:avLst/>
          </a:prstGeom>
          <a:noFill/>
          <a:ln/>
        </p:spPr>
        <p:txBody>
          <a:bodyPr wrap="square" lIns="0" tIns="0" rIns="0" bIns="0" rtlCol="0" anchor="t"/>
          <a:lstStyle/>
          <a:p>
            <a:pPr algn="ctr" indent="0" marL="0">
              <a:buNone/>
            </a:pPr>
            <a:r>
              <a:rPr lang="en-US" sz="1300" dirty="0">
                <a:solidFill>
                  <a:schemeClr val="tx1"/>
                </a:solidFill>
              </a:rPr>
              <a:t>Extracts employer, job, salary, visa type; spots mismatches</a:t>
            </a:r>
            <a:endParaRPr lang="en-US" sz="1300" dirty="0"/>
          </a:p>
        </p:txBody>
      </p:sp>
      <p:sp>
        <p:nvSpPr>
          <p:cNvPr id="13" name="step 3 circle"/>
          <p:cNvSpPr/>
          <p:nvPr/>
        </p:nvSpPr>
        <p:spPr>
          <a:xfrm>
            <a:off x="7086600" y="1645920"/>
            <a:ext cx="914400" cy="914400"/>
          </a:xfrm>
          <a:prstGeom prst="ellipse">
            <a:avLst/>
          </a:prstGeom>
          <a:solidFill>
            <a:srgbClr val="B5452F"/>
          </a:solidFill>
          <a:ln w="12700">
            <a:solidFill>
              <a:srgbClr val="B5452F"/>
            </a:solidFill>
            <a:prstDash val="solid"/>
          </a:ln>
        </p:spPr>
      </p:sp>
      <p:pic>
        <p:nvPicPr>
          <p:cNvPr id="14" name="step 3 icon" descr="step 3">    </p:cNvPr>
          <p:cNvPicPr>
            <a:picLocks noChangeAspect="1"/>
          </p:cNvPicPr>
          <p:nvPr/>
        </p:nvPicPr>
        <p:blipFill>
          <a:blip r:embed="rId3"/>
          <a:stretch>
            <a:fillRect/>
          </a:stretch>
        </p:blipFill>
        <p:spPr>
          <a:xfrm>
            <a:off x="7306056" y="1865376"/>
            <a:ext cx="475488" cy="475488"/>
          </a:xfrm>
          <a:prstGeom prst="rect">
            <a:avLst/>
          </a:prstGeom>
        </p:spPr>
      </p:pic>
      <p:sp>
        <p:nvSpPr>
          <p:cNvPr id="15" name="arrow 3"/>
          <p:cNvSpPr/>
          <p:nvPr/>
        </p:nvSpPr>
        <p:spPr>
          <a:xfrm>
            <a:off x="8321040" y="1938528"/>
            <a:ext cx="548640" cy="329184"/>
          </a:xfrm>
          <a:prstGeom prst="rightArrow">
            <a:avLst/>
          </a:prstGeom>
          <a:solidFill>
            <a:srgbClr val="A4AC86"/>
          </a:solidFill>
          <a:ln w="12700">
            <a:solidFill>
              <a:srgbClr val="A4AC86"/>
            </a:solidFill>
            <a:prstDash val="solid"/>
          </a:ln>
        </p:spPr>
      </p:sp>
      <p:sp>
        <p:nvSpPr>
          <p:cNvPr id="16" name="Text 11"/>
          <p:cNvSpPr txBox="1"/>
          <p:nvPr/>
        </p:nvSpPr>
        <p:spPr>
          <a:xfrm>
            <a:off x="6217920" y="2697480"/>
            <a:ext cx="2651760" cy="411480"/>
          </a:xfrm>
          <a:prstGeom prst="rect">
            <a:avLst/>
          </a:prstGeom>
          <a:noFill/>
          <a:ln/>
        </p:spPr>
        <p:txBody>
          <a:bodyPr wrap="square" lIns="0" tIns="0" rIns="0" bIns="0" rtlCol="0" anchor="ctr"/>
          <a:lstStyle/>
          <a:p>
            <a:pPr algn="ctr" indent="0" marL="0">
              <a:buNone/>
            </a:pPr>
            <a:r>
              <a:rPr lang="en-US" sz="1700" b="1" dirty="0">
                <a:solidFill>
                  <a:schemeClr val="tx2"/>
                </a:solidFill>
              </a:rPr>
              <a:t>Rule engine</a:t>
            </a:r>
            <a:endParaRPr lang="en-US" sz="1700" dirty="0"/>
          </a:p>
        </p:txBody>
      </p:sp>
      <p:sp>
        <p:nvSpPr>
          <p:cNvPr id="17" name="Text 12"/>
          <p:cNvSpPr txBox="1"/>
          <p:nvPr/>
        </p:nvSpPr>
        <p:spPr>
          <a:xfrm>
            <a:off x="6309360" y="3108960"/>
            <a:ext cx="2468880" cy="822960"/>
          </a:xfrm>
          <a:prstGeom prst="rect">
            <a:avLst/>
          </a:prstGeom>
          <a:noFill/>
          <a:ln/>
        </p:spPr>
        <p:txBody>
          <a:bodyPr wrap="square" lIns="0" tIns="0" rIns="0" bIns="0" rtlCol="0" anchor="t"/>
          <a:lstStyle/>
          <a:p>
            <a:pPr algn="ctr" indent="0" marL="0">
              <a:buNone/>
            </a:pPr>
            <a:r>
              <a:rPr lang="en-US" sz="1300" dirty="0">
                <a:solidFill>
                  <a:schemeClr val="tx1"/>
                </a:solidFill>
              </a:rPr>
              <a:t>Official costs, minimum wages, licence list, scam corridors</a:t>
            </a:r>
            <a:endParaRPr lang="en-US" sz="1300" dirty="0"/>
          </a:p>
        </p:txBody>
      </p:sp>
      <p:sp>
        <p:nvSpPr>
          <p:cNvPr id="18" name="step 4 circle"/>
          <p:cNvSpPr/>
          <p:nvPr/>
        </p:nvSpPr>
        <p:spPr>
          <a:xfrm>
            <a:off x="9921240" y="1645920"/>
            <a:ext cx="914400" cy="914400"/>
          </a:xfrm>
          <a:prstGeom prst="ellipse">
            <a:avLst/>
          </a:prstGeom>
          <a:solidFill>
            <a:srgbClr val="2D4A2B"/>
          </a:solidFill>
          <a:ln w="12700">
            <a:solidFill>
              <a:srgbClr val="2D4A2B"/>
            </a:solidFill>
            <a:prstDash val="solid"/>
          </a:ln>
        </p:spPr>
      </p:sp>
      <p:pic>
        <p:nvPicPr>
          <p:cNvPr id="19" name="step 4 icon" descr="step 4">    </p:cNvPr>
          <p:cNvPicPr>
            <a:picLocks noChangeAspect="1"/>
          </p:cNvPicPr>
          <p:nvPr/>
        </p:nvPicPr>
        <p:blipFill>
          <a:blip r:embed="rId4"/>
          <a:stretch>
            <a:fillRect/>
          </a:stretch>
        </p:blipFill>
        <p:spPr>
          <a:xfrm>
            <a:off x="10140696" y="1865376"/>
            <a:ext cx="475488" cy="475488"/>
          </a:xfrm>
          <a:prstGeom prst="rect">
            <a:avLst/>
          </a:prstGeom>
        </p:spPr>
      </p:pic>
      <p:sp>
        <p:nvSpPr>
          <p:cNvPr id="20" name="Text 14"/>
          <p:cNvSpPr txBox="1"/>
          <p:nvPr/>
        </p:nvSpPr>
        <p:spPr>
          <a:xfrm>
            <a:off x="9052560" y="2697480"/>
            <a:ext cx="2651760" cy="411480"/>
          </a:xfrm>
          <a:prstGeom prst="rect">
            <a:avLst/>
          </a:prstGeom>
          <a:noFill/>
          <a:ln/>
        </p:spPr>
        <p:txBody>
          <a:bodyPr wrap="square" lIns="0" tIns="0" rIns="0" bIns="0" rtlCol="0" anchor="ctr"/>
          <a:lstStyle/>
          <a:p>
            <a:pPr algn="ctr" indent="0" marL="0">
              <a:buNone/>
            </a:pPr>
            <a:r>
              <a:rPr lang="en-US" sz="1700" b="1" dirty="0">
                <a:solidFill>
                  <a:schemeClr val="tx2"/>
                </a:solidFill>
              </a:rPr>
              <a:t>Verdict + family share</a:t>
            </a:r>
            <a:endParaRPr lang="en-US" sz="1700" dirty="0"/>
          </a:p>
        </p:txBody>
      </p:sp>
      <p:sp>
        <p:nvSpPr>
          <p:cNvPr id="21" name="Text 15"/>
          <p:cNvSpPr txBox="1"/>
          <p:nvPr/>
        </p:nvSpPr>
        <p:spPr>
          <a:xfrm>
            <a:off x="9144000" y="3108960"/>
            <a:ext cx="2468880" cy="822960"/>
          </a:xfrm>
          <a:prstGeom prst="rect">
            <a:avLst/>
          </a:prstGeom>
          <a:noFill/>
          <a:ln/>
        </p:spPr>
        <p:txBody>
          <a:bodyPr wrap="square" lIns="0" tIns="0" rIns="0" bIns="0" rtlCol="0" anchor="t"/>
          <a:lstStyle/>
          <a:p>
            <a:pPr algn="ctr" indent="0" marL="0">
              <a:buNone/>
            </a:pPr>
            <a:r>
              <a:rPr lang="en-US" sz="1300" dirty="0">
                <a:solidFill>
                  <a:schemeClr val="tx1"/>
                </a:solidFill>
              </a:rPr>
              <a:t>Bangla report, negotiation script, WhatsApp to family</a:t>
            </a:r>
            <a:endParaRPr lang="en-US" sz="1300" dirty="0"/>
          </a:p>
        </p:txBody>
      </p:sp>
      <p:sp>
        <p:nvSpPr>
          <p:cNvPr id="22" name="pillar 1"/>
          <p:cNvSpPr/>
          <p:nvPr/>
        </p:nvSpPr>
        <p:spPr>
          <a:xfrm>
            <a:off x="548640" y="4343400"/>
            <a:ext cx="3520440" cy="1280160"/>
          </a:xfrm>
          <a:prstGeom prst="roundRect">
            <a:avLst>
              <a:gd name="adj" fmla="val 8571"/>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23" name="Text 17"/>
          <p:cNvSpPr txBox="1"/>
          <p:nvPr/>
        </p:nvSpPr>
        <p:spPr>
          <a:xfrm>
            <a:off x="777240" y="4480560"/>
            <a:ext cx="3063240" cy="10515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Trust by design</a:t>
            </a:r>
            <a:endParaRPr lang="en-US" sz="1600" dirty="0"/>
          </a:p>
          <a:p>
            <a:pPr indent="0" marL="0">
              <a:spcAft>
                <a:spcPts val="400"/>
              </a:spcAft>
              <a:buNone/>
            </a:pPr>
            <a:r>
              <a:rPr lang="en-US" sz="1300" dirty="0">
                <a:solidFill>
                  <a:schemeClr val="tx1"/>
                </a:solidFill>
              </a:rPr>
              <a:t>AI can add warnings but never remove a rule-based one. Every fact shows its source.</a:t>
            </a:r>
            <a:endParaRPr lang="en-US" sz="1600" dirty="0"/>
          </a:p>
        </p:txBody>
      </p:sp>
      <p:sp>
        <p:nvSpPr>
          <p:cNvPr id="24" name="pillar 2"/>
          <p:cNvSpPr/>
          <p:nvPr/>
        </p:nvSpPr>
        <p:spPr>
          <a:xfrm>
            <a:off x="4297680" y="4343400"/>
            <a:ext cx="3520440" cy="1280160"/>
          </a:xfrm>
          <a:prstGeom prst="roundRect">
            <a:avLst>
              <a:gd name="adj" fmla="val 8571"/>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25" name="Text 19"/>
          <p:cNvSpPr txBox="1"/>
          <p:nvPr/>
        </p:nvSpPr>
        <p:spPr>
          <a:xfrm>
            <a:off x="4526280" y="4480560"/>
            <a:ext cx="3063240" cy="10515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Works offline-first</a:t>
            </a:r>
            <a:endParaRPr lang="en-US" sz="1600" dirty="0"/>
          </a:p>
          <a:p>
            <a:pPr indent="0" marL="0">
              <a:spcAft>
                <a:spcPts val="400"/>
              </a:spcAft>
              <a:buNone/>
            </a:pPr>
            <a:r>
              <a:rPr lang="en-US" sz="1300" dirty="0">
                <a:solidFill>
                  <a:schemeClr val="tx1"/>
                </a:solidFill>
              </a:rPr>
              <a:t>If AI is down or the key is missing, the rule engine and FAQ still answer.</a:t>
            </a:r>
            <a:endParaRPr lang="en-US" sz="1600" dirty="0"/>
          </a:p>
        </p:txBody>
      </p:sp>
      <p:sp>
        <p:nvSpPr>
          <p:cNvPr id="26" name="pillar 3"/>
          <p:cNvSpPr/>
          <p:nvPr/>
        </p:nvSpPr>
        <p:spPr>
          <a:xfrm>
            <a:off x="8046720" y="4343400"/>
            <a:ext cx="3520440" cy="1280160"/>
          </a:xfrm>
          <a:prstGeom prst="roundRect">
            <a:avLst>
              <a:gd name="adj" fmla="val 8571"/>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27" name="Text 21"/>
          <p:cNvSpPr txBox="1"/>
          <p:nvPr/>
        </p:nvSpPr>
        <p:spPr>
          <a:xfrm>
            <a:off x="8275320" y="4480560"/>
            <a:ext cx="3063240" cy="10515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Stack</a:t>
            </a:r>
            <a:endParaRPr lang="en-US" sz="1600" dirty="0"/>
          </a:p>
          <a:p>
            <a:pPr indent="0" marL="0">
              <a:spcAft>
                <a:spcPts val="400"/>
              </a:spcAft>
              <a:buNone/>
            </a:pPr>
            <a:r>
              <a:rPr lang="en-US" sz="1300" dirty="0">
                <a:solidFill>
                  <a:schemeClr val="tx1"/>
                </a:solidFill>
              </a:rPr>
              <a:t>Next.js on Vercel · Claude API (vision + structured JSON) · Web Speech API for Bangla voice</a:t>
            </a:r>
            <a:endParaRPr lang="en-US" sz="16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lIns="0" tIns="0" rIns="0" bIns="0" rtlCol="0" anchor="t"/>
          <a:lstStyle/>
          <a:p>
            <a:pPr indent="0" marL="0">
              <a:buNone/>
            </a:pPr>
            <a:r>
              <a:rPr lang="en-US" sz="3600" b="1" dirty="0">
                <a:solidFill>
                  <a:schemeClr val="tx2"/>
                </a:solidFill>
              </a:rPr>
              <a:t>Free safety for all, paid value that saves lakhs</a:t>
            </a:r>
            <a:endParaRPr lang="en-US" sz="3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949440" cy="914400"/>
        </p:xfrm>
        <a:graphic>
          <a:graphicData uri="http://schemas.openxmlformats.org/drawingml/2006/table">
            <a:tbl>
              <a:tblPr/>
              <a:tblGrid>
                <a:gridCol w="2286000"/>
                <a:gridCol w="1554480"/>
                <a:gridCol w="310896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Stream</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2D4A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2D4A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it's fair</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2D4A2B"/>
                    </a:solidFill>
                  </a:tcPr>
                </a:tc>
              </a:tr>
              <a:tr h="566928">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Verified Offer Report</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FFFFF"/>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Tk 299 once</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FFFFF"/>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Saves Tk 1–5 lakh; money back if we miss a flag</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Family Plan</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1F0E8"/>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Tk 149 / month</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1F0E8"/>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Unlimited reports, remittance &amp; debt planner</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1F0E8"/>
                    </a:solidFill>
                  </a:tcPr>
                </a:tc>
              </a:tr>
              <a:tr h="566928">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Licensed partner referrals</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FFFFF"/>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Bounty / 10–20%</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FFFFF"/>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Remittance, courses, insurance, fair loans; always disclosed</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Sponsored agency listing</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1F0E8"/>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Tk 5–15k / month</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1F0E8"/>
                    </a:solidFill>
                  </a:tcPr>
                </a:tc>
                <a:tc>
                  <a:txBody>
                    <a:bodyPr/>
                    <a:lstStyle/>
                    <a:p>
                      <a:pPr indent="0" marL="0">
                        <a:buNone/>
                      </a:pPr>
                      <a:r>
                        <a:rPr lang="en-US" sz="1300" dirty="0">
                          <a:solidFill>
                            <a:srgbClr val="1D2A1C"/>
                          </a:solidFill>
                          <a:latin typeface="Calibri" pitchFamily="34" charset="0"/>
                          <a:ea typeface="Calibri" pitchFamily="34" charset="-122"/>
                          <a:cs typeface="Calibri" pitchFamily="34" charset="-120"/>
                        </a:rPr>
                        <a:t>Labelled; can never change a risk score</a:t>
                      </a:r>
                      <a:endParaRPr lang="en-US" sz="1300" dirty="0">
                        <a:latin typeface="Calibri" charset="0"/>
                        <a:ea typeface="Calibri" charset="0"/>
                        <a:cs typeface="Calibri" charset="0"/>
                      </a:endParaRPr>
                    </a:p>
                  </a:txBody>
                  <a:tcPr marL="91440" marR="91440" marT="45720" marB="45720" anchor="ctr">
                    <a:lnL w="6350" cap="flat" cmpd="sng" algn="ctr">
                      <a:solidFill>
                        <a:srgbClr val="DCDCCF"/>
                      </a:solidFill>
                      <a:prstDash val="solid"/>
                      <a:round/>
                      <a:headEnd type="none" w="med" len="med"/>
                      <a:tailEnd type="none" w="med" len="med"/>
                    </a:lnL>
                    <a:lnR w="6350" cap="flat" cmpd="sng" algn="ctr">
                      <a:solidFill>
                        <a:srgbClr val="DCDCCF"/>
                      </a:solidFill>
                      <a:prstDash val="solid"/>
                      <a:round/>
                      <a:headEnd type="none" w="med" len="med"/>
                      <a:tailEnd type="none" w="med" len="med"/>
                    </a:lnR>
                    <a:lnT w="6350" cap="flat" cmpd="sng" algn="ctr">
                      <a:solidFill>
                        <a:srgbClr val="DCDCCF"/>
                      </a:solidFill>
                      <a:prstDash val="solid"/>
                      <a:round/>
                      <a:headEnd type="none" w="med" len="med"/>
                      <a:tailEnd type="none" w="med" len="med"/>
                    </a:lnT>
                    <a:lnB w="6350" cap="flat" cmpd="sng" algn="ctr">
                      <a:solidFill>
                        <a:srgbClr val="DCDCCF"/>
                      </a:solidFill>
                      <a:prstDash val="solid"/>
                      <a:round/>
                      <a:headEnd type="none" w="med" len="med"/>
                      <a:tailEnd type="none" w="med" len="med"/>
                    </a:lnB>
                    <a:solidFill>
                      <a:srgbClr val="F1F0E8"/>
                    </a:solidFill>
                  </a:tcPr>
                </a:tc>
              </a:tr>
            </a:tbl>
          </a:graphicData>
        </a:graphic>
      </p:graphicFrame>
      <p:sp>
        <p:nvSpPr>
          <p:cNvPr id="4" name="economics 1"/>
          <p:cNvSpPr/>
          <p:nvPr/>
        </p:nvSpPr>
        <p:spPr>
          <a:xfrm>
            <a:off x="7909560" y="1600200"/>
            <a:ext cx="3703320" cy="1280160"/>
          </a:xfrm>
          <a:prstGeom prst="roundRect">
            <a:avLst>
              <a:gd name="adj" fmla="val 8571"/>
            </a:avLst>
          </a:prstGeom>
          <a:solidFill>
            <a:srgbClr val="2D4A2B"/>
          </a:solidFill>
          <a:ln w="12700">
            <a:solidFill>
              <a:srgbClr val="2D4A2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138160" y="1709928"/>
            <a:ext cx="3291840" cy="54864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~90%</a:t>
            </a:r>
            <a:endParaRPr lang="en-US" sz="2600" dirty="0"/>
          </a:p>
        </p:txBody>
      </p:sp>
      <p:sp>
        <p:nvSpPr>
          <p:cNvPr id="6" name="Text 3"/>
          <p:cNvSpPr txBox="1"/>
          <p:nvPr/>
        </p:nvSpPr>
        <p:spPr>
          <a:xfrm>
            <a:off x="8138160" y="2258568"/>
            <a:ext cx="3291840" cy="548640"/>
          </a:xfrm>
          <a:prstGeom prst="rect">
            <a:avLst/>
          </a:prstGeom>
          <a:noFill/>
          <a:ln/>
        </p:spPr>
        <p:txBody>
          <a:bodyPr wrap="square" lIns="0" tIns="0" rIns="0" bIns="0" rtlCol="0" anchor="t"/>
          <a:lstStyle/>
          <a:p>
            <a:pPr indent="0" marL="0">
              <a:buNone/>
            </a:pPr>
            <a:r>
              <a:rPr lang="en-US" sz="1200" dirty="0">
                <a:solidFill>
                  <a:schemeClr val="accent2"/>
                </a:solidFill>
              </a:rPr>
              <a:t>gross margin per report (AI Tk 10–20 + 2% gateway)</a:t>
            </a:r>
            <a:endParaRPr lang="en-US" sz="1200" dirty="0"/>
          </a:p>
        </p:txBody>
      </p:sp>
      <p:sp>
        <p:nvSpPr>
          <p:cNvPr id="7" name="economics 2"/>
          <p:cNvSpPr/>
          <p:nvPr/>
        </p:nvSpPr>
        <p:spPr>
          <a:xfrm>
            <a:off x="7909560" y="3063240"/>
            <a:ext cx="3703320" cy="1280160"/>
          </a:xfrm>
          <a:prstGeom prst="roundRect">
            <a:avLst>
              <a:gd name="adj" fmla="val 8571"/>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138160" y="3172968"/>
            <a:ext cx="3291840" cy="5486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1% → Tk 33L+</a:t>
            </a:r>
            <a:endParaRPr lang="en-US" sz="2600" dirty="0"/>
          </a:p>
        </p:txBody>
      </p:sp>
      <p:sp>
        <p:nvSpPr>
          <p:cNvPr id="9" name="Text 6"/>
          <p:cNvSpPr txBox="1"/>
          <p:nvPr/>
        </p:nvSpPr>
        <p:spPr>
          <a:xfrm>
            <a:off x="8138160" y="3721608"/>
            <a:ext cx="3291840" cy="548640"/>
          </a:xfrm>
          <a:prstGeom prst="rect">
            <a:avLst/>
          </a:prstGeom>
          <a:noFill/>
          <a:ln/>
        </p:spPr>
        <p:txBody>
          <a:bodyPr wrap="square" lIns="0" tIns="0" rIns="0" bIns="0" rtlCol="0" anchor="t"/>
          <a:lstStyle/>
          <a:p>
            <a:pPr indent="0" marL="0">
              <a:buNone/>
            </a:pPr>
            <a:r>
              <a:rPr lang="en-US" sz="1200" dirty="0">
                <a:solidFill>
                  <a:schemeClr val="tx1"/>
                </a:solidFill>
              </a:rPr>
              <a:t>of yearly migrants buying one report, before plans &amp; partners</a:t>
            </a:r>
            <a:endParaRPr lang="en-US" sz="1200" dirty="0"/>
          </a:p>
        </p:txBody>
      </p:sp>
      <p:sp>
        <p:nvSpPr>
          <p:cNvPr id="10" name="economics 3"/>
          <p:cNvSpPr/>
          <p:nvPr/>
        </p:nvSpPr>
        <p:spPr>
          <a:xfrm>
            <a:off x="7909560" y="4526280"/>
            <a:ext cx="3703320" cy="1280160"/>
          </a:xfrm>
          <a:prstGeom prst="roundRect">
            <a:avLst>
              <a:gd name="adj" fmla="val 8571"/>
            </a:avLst>
          </a:prstGeom>
          <a:solidFill>
            <a:srgbClr val="F1F0E8"/>
          </a:solidFill>
          <a:ln w="12700">
            <a:solidFill>
              <a:srgbClr val="F1F0E8"/>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138160" y="4636008"/>
            <a:ext cx="3291840" cy="5486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8+ countries</a:t>
            </a:r>
            <a:endParaRPr lang="en-US" sz="2600" dirty="0"/>
          </a:p>
        </p:txBody>
      </p:sp>
      <p:sp>
        <p:nvSpPr>
          <p:cNvPr id="12" name="Text 9"/>
          <p:cNvSpPr txBox="1"/>
          <p:nvPr/>
        </p:nvSpPr>
        <p:spPr>
          <a:xfrm>
            <a:off x="8138160" y="5184648"/>
            <a:ext cx="3291840" cy="548640"/>
          </a:xfrm>
          <a:prstGeom prst="rect">
            <a:avLst/>
          </a:prstGeom>
          <a:noFill/>
          <a:ln/>
        </p:spPr>
        <p:txBody>
          <a:bodyPr wrap="square" lIns="0" tIns="0" rIns="0" bIns="0" rtlCol="0" anchor="t"/>
          <a:lstStyle/>
          <a:p>
            <a:pPr indent="0" marL="0">
              <a:buNone/>
            </a:pPr>
            <a:r>
              <a:rPr lang="en-US" sz="1200" dirty="0">
                <a:solidFill>
                  <a:schemeClr val="tx1"/>
                </a:solidFill>
              </a:rPr>
              <a:t>same corridors: Nepal, India, Pakistan, Philippines, Indonesia…</a:t>
            </a:r>
            <a:endParaRPr lang="en-US" sz="1200" dirty="0"/>
          </a:p>
        </p:txBody>
      </p:sp>
      <p:sp>
        <p:nvSpPr>
          <p:cNvPr id="13" name="Text 10"/>
          <p:cNvSpPr txBox="1"/>
          <p:nvPr/>
        </p:nvSpPr>
        <p:spPr>
          <a:xfrm>
            <a:off x="548640" y="4709160"/>
            <a:ext cx="6949440" cy="457200"/>
          </a:xfrm>
          <a:prstGeom prst="rect">
            <a:avLst/>
          </a:prstGeom>
          <a:noFill/>
          <a:ln/>
        </p:spPr>
        <p:txBody>
          <a:bodyPr wrap="square" lIns="0" tIns="0" rIns="0" bIns="0" rtlCol="0" anchor="ctr"/>
          <a:lstStyle/>
          <a:p>
            <a:pPr indent="0" marL="0">
              <a:buNone/>
            </a:pPr>
            <a:r>
              <a:rPr lang="en-US" sz="1300" i="1" dirty="0">
                <a:solidFill>
                  <a:schemeClr val="accent3"/>
                </a:solidFill>
              </a:rPr>
              <a:t>Checks and balances: scores can't be bought · every commission shown · money-back guarantee</a:t>
            </a:r>
            <a:endParaRPr lang="en-US" sz="13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1188720"/>
          </a:xfrm>
          <a:prstGeom prst="rect">
            <a:avLst/>
          </a:prstGeom>
          <a:noFill/>
          <a:ln/>
        </p:spPr>
        <p:txBody>
          <a:bodyPr wrap="square" lIns="0" tIns="0" rIns="0" bIns="0" rtlCol="0" anchor="t"/>
          <a:lstStyle/>
          <a:p>
            <a:pPr indent="0" marL="0">
              <a:buNone/>
            </a:pPr>
            <a:r>
              <a:rPr lang="en-US" sz="3600" b="1" dirty="0">
                <a:solidFill>
                  <a:schemeClr val="bg1"/>
                </a:solidFill>
              </a:rPr>
              <a:t>Built by a builder from Bangladesh, for Bangladesh, ready for the world</a:t>
            </a:r>
            <a:endParaRPr lang="en-US" sz="3600" dirty="0"/>
          </a:p>
        </p:txBody>
      </p:sp>
      <p:sp>
        <p:nvSpPr>
          <p:cNvPr id="3" name="participant card"/>
          <p:cNvSpPr/>
          <p:nvPr/>
        </p:nvSpPr>
        <p:spPr>
          <a:xfrm>
            <a:off x="548640" y="1828800"/>
            <a:ext cx="5120640" cy="3291840"/>
          </a:xfrm>
          <a:prstGeom prst="roundRect">
            <a:avLst>
              <a:gd name="adj" fmla="val 3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 name="participant circle"/>
          <p:cNvSpPr/>
          <p:nvPr/>
        </p:nvSpPr>
        <p:spPr>
          <a:xfrm>
            <a:off x="868680" y="2148840"/>
            <a:ext cx="1005840" cy="1005840"/>
          </a:xfrm>
          <a:prstGeom prst="ellipse">
            <a:avLst/>
          </a:prstGeom>
          <a:solidFill>
            <a:srgbClr val="2D4A2B"/>
          </a:solidFill>
          <a:ln w="12700">
            <a:solidFill>
              <a:srgbClr val="2D4A2B"/>
            </a:solidFill>
            <a:prstDash val="solid"/>
          </a:ln>
        </p:spPr>
      </p:sp>
      <p:pic>
        <p:nvPicPr>
          <p:cNvPr id="5" name="participant icon" descr="participant">    </p:cNvPr>
          <p:cNvPicPr>
            <a:picLocks noChangeAspect="1"/>
          </p:cNvPicPr>
          <p:nvPr/>
        </p:nvPicPr>
        <p:blipFill>
          <a:blip r:embed="rId1"/>
          <a:stretch>
            <a:fillRect/>
          </a:stretch>
        </p:blipFill>
        <p:spPr>
          <a:xfrm>
            <a:off x="1110082" y="2390242"/>
            <a:ext cx="523037" cy="523037"/>
          </a:xfrm>
          <a:prstGeom prst="rect">
            <a:avLst/>
          </a:prstGeom>
        </p:spPr>
      </p:pic>
      <p:sp>
        <p:nvSpPr>
          <p:cNvPr id="6" name="Text 3"/>
          <p:cNvSpPr txBox="1"/>
          <p:nvPr/>
        </p:nvSpPr>
        <p:spPr>
          <a:xfrm>
            <a:off x="2103120" y="2148840"/>
            <a:ext cx="3383280" cy="1005840"/>
          </a:xfrm>
          <a:prstGeom prst="rect">
            <a:avLst/>
          </a:prstGeom>
          <a:noFill/>
          <a:ln/>
        </p:spPr>
        <p:txBody>
          <a:bodyPr wrap="square" lIns="0" tIns="0" rIns="0" bIns="0" rtlCol="0" anchor="ctr"/>
          <a:lstStyle/>
          <a:p>
            <a:pPr indent="0" marL="0">
              <a:buNone/>
            </a:pPr>
            <a:r>
              <a:rPr lang="en-US" sz="2200" b="1" dirty="0">
                <a:solidFill>
                  <a:schemeClr val="tx2"/>
                </a:solidFill>
              </a:rPr>
              <a:t>Shafin</a:t>
            </a:r>
            <a:endParaRPr lang="en-US" sz="2200" dirty="0"/>
          </a:p>
          <a:p>
            <a:pPr indent="0" marL="0">
              <a:buNone/>
            </a:pPr>
            <a:r>
              <a:rPr lang="en-US" sz="1400" dirty="0">
                <a:solidFill>
                  <a:schemeClr val="accent4"/>
                </a:solidFill>
              </a:rPr>
              <a:t>Founder &amp; builder, Probashi AI</a:t>
            </a:r>
            <a:endParaRPr lang="en-US" sz="2200" dirty="0"/>
          </a:p>
        </p:txBody>
      </p:sp>
      <p:sp>
        <p:nvSpPr>
          <p:cNvPr id="7" name="Text 4"/>
          <p:cNvSpPr txBox="1"/>
          <p:nvPr/>
        </p:nvSpPr>
        <p:spPr>
          <a:xfrm>
            <a:off x="868680" y="3429000"/>
            <a:ext cx="457200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Product, AI and full-stack development</a:t>
            </a:r>
            <a:endParaRPr lang="en-US" sz="1400" dirty="0"/>
          </a:p>
          <a:p>
            <a:pPr marL="342900" indent="-342900">
              <a:spcAft>
                <a:spcPts val="800"/>
              </a:spcAft>
              <a:buSzPct val="100000"/>
              <a:buChar char="•"/>
            </a:pPr>
            <a:r>
              <a:rPr lang="en-US" sz="1400" dirty="0">
                <a:solidFill>
                  <a:schemeClr val="tx1"/>
                </a:solidFill>
              </a:rPr>
              <a:t>Motivated by families who lost lakhs to dalals</a:t>
            </a:r>
            <a:endParaRPr lang="en-US" sz="1400" dirty="0"/>
          </a:p>
          <a:p>
            <a:pPr marL="342900" indent="-342900">
              <a:spcAft>
                <a:spcPts val="800"/>
              </a:spcAft>
              <a:buSzPct val="100000"/>
              <a:buChar char="•"/>
            </a:pPr>
            <a:r>
              <a:rPr lang="en-US" sz="1400" dirty="0">
                <a:solidFill>
                  <a:schemeClr val="tx1"/>
                </a:solidFill>
              </a:rPr>
              <a:t>github.com/shafin027/CS  (probashi-ai/)</a:t>
            </a:r>
            <a:endParaRPr lang="en-US" sz="1400" dirty="0"/>
          </a:p>
          <a:p>
            <a:pPr marL="342900" indent="-342900">
              <a:spcAft>
                <a:spcPts val="800"/>
              </a:spcAft>
              <a:buSzPct val="100000"/>
              <a:buChar char="•"/>
            </a:pPr>
            <a:r>
              <a:rPr lang="en-US" sz="1400" dirty="0">
                <a:solidFill>
                  <a:schemeClr val="tx1"/>
                </a:solidFill>
              </a:rPr>
              <a:t>Live demo link: add your Vercel URL here</a:t>
            </a:r>
            <a:endParaRPr lang="en-US" sz="1400" dirty="0"/>
          </a:p>
        </p:txBody>
      </p:sp>
      <p:sp>
        <p:nvSpPr>
          <p:cNvPr id="8" name="roadmap Now circle"/>
          <p:cNvSpPr/>
          <p:nvPr/>
        </p:nvSpPr>
        <p:spPr>
          <a:xfrm>
            <a:off x="6217920" y="1920240"/>
            <a:ext cx="777240" cy="777240"/>
          </a:xfrm>
          <a:prstGeom prst="ellipse">
            <a:avLst/>
          </a:prstGeom>
          <a:solidFill>
            <a:srgbClr val="A4AC86"/>
          </a:solidFill>
          <a:ln w="12700">
            <a:solidFill>
              <a:srgbClr val="A4AC86"/>
            </a:solidFill>
            <a:prstDash val="solid"/>
          </a:ln>
        </p:spPr>
      </p:sp>
      <p:pic>
        <p:nvPicPr>
          <p:cNvPr id="9" name="roadmap Now icon" descr="roadmap Now">    </p:cNvPr>
          <p:cNvPicPr>
            <a:picLocks noChangeAspect="1"/>
          </p:cNvPicPr>
          <p:nvPr/>
        </p:nvPicPr>
        <p:blipFill>
          <a:blip r:embed="rId2"/>
          <a:stretch>
            <a:fillRect/>
          </a:stretch>
        </p:blipFill>
        <p:spPr>
          <a:xfrm>
            <a:off x="6404458" y="2106778"/>
            <a:ext cx="404165" cy="404165"/>
          </a:xfrm>
          <a:prstGeom prst="rect">
            <a:avLst/>
          </a:prstGeom>
        </p:spPr>
      </p:pic>
      <p:sp>
        <p:nvSpPr>
          <p:cNvPr id="10" name="Text 6"/>
          <p:cNvSpPr txBox="1"/>
          <p:nvPr/>
        </p:nvSpPr>
        <p:spPr>
          <a:xfrm>
            <a:off x="7223760" y="1828800"/>
            <a:ext cx="4389120" cy="1005840"/>
          </a:xfrm>
          <a:prstGeom prst="rect">
            <a:avLst/>
          </a:prstGeom>
          <a:noFill/>
          <a:ln/>
        </p:spPr>
        <p:txBody>
          <a:bodyPr wrap="square" lIns="0" tIns="0" rIns="0" bIns="0" rtlCol="0" anchor="ctr"/>
          <a:lstStyle/>
          <a:p>
            <a:pPr indent="0" marL="0">
              <a:buNone/>
            </a:pPr>
            <a:r>
              <a:rPr lang="en-US" sz="1700" b="1" dirty="0">
                <a:solidFill>
                  <a:schemeClr val="bg1"/>
                </a:solidFill>
              </a:rPr>
              <a:t>Now</a:t>
            </a:r>
            <a:endParaRPr lang="en-US" sz="1700" dirty="0"/>
          </a:p>
          <a:p>
            <a:pPr indent="0" marL="0">
              <a:buNone/>
            </a:pPr>
            <a:r>
              <a:rPr lang="en-US" sz="1300" dirty="0">
                <a:solidFill>
                  <a:schemeClr val="accent2"/>
                </a:solidFill>
              </a:rPr>
              <a:t>Live MVP: offer check, cost, agency, voice Q&amp;A, family planner</a:t>
            </a:r>
            <a:endParaRPr lang="en-US" sz="1700" dirty="0"/>
          </a:p>
        </p:txBody>
      </p:sp>
      <p:sp>
        <p:nvSpPr>
          <p:cNvPr id="11" name="roadmap Next 3 months circle"/>
          <p:cNvSpPr/>
          <p:nvPr/>
        </p:nvSpPr>
        <p:spPr>
          <a:xfrm>
            <a:off x="6217920" y="3337560"/>
            <a:ext cx="777240" cy="777240"/>
          </a:xfrm>
          <a:prstGeom prst="ellipse">
            <a:avLst/>
          </a:prstGeom>
          <a:solidFill>
            <a:srgbClr val="A4AC86"/>
          </a:solidFill>
          <a:ln w="12700">
            <a:solidFill>
              <a:srgbClr val="A4AC86"/>
            </a:solidFill>
            <a:prstDash val="solid"/>
          </a:ln>
        </p:spPr>
      </p:sp>
      <p:pic>
        <p:nvPicPr>
          <p:cNvPr id="12" name="roadmap Next 3 months icon" descr="roadmap Next 3 months">    </p:cNvPr>
          <p:cNvPicPr>
            <a:picLocks noChangeAspect="1"/>
          </p:cNvPicPr>
          <p:nvPr/>
        </p:nvPicPr>
        <p:blipFill>
          <a:blip r:embed="rId3"/>
          <a:stretch>
            <a:fillRect/>
          </a:stretch>
        </p:blipFill>
        <p:spPr>
          <a:xfrm>
            <a:off x="6404458" y="3524098"/>
            <a:ext cx="404165" cy="404165"/>
          </a:xfrm>
          <a:prstGeom prst="rect">
            <a:avLst/>
          </a:prstGeom>
        </p:spPr>
      </p:pic>
      <p:sp>
        <p:nvSpPr>
          <p:cNvPr id="13" name="Text 8"/>
          <p:cNvSpPr txBox="1"/>
          <p:nvPr/>
        </p:nvSpPr>
        <p:spPr>
          <a:xfrm>
            <a:off x="7223760" y="3246120"/>
            <a:ext cx="4389120" cy="1005840"/>
          </a:xfrm>
          <a:prstGeom prst="rect">
            <a:avLst/>
          </a:prstGeom>
          <a:noFill/>
          <a:ln/>
        </p:spPr>
        <p:txBody>
          <a:bodyPr wrap="square" lIns="0" tIns="0" rIns="0" bIns="0" rtlCol="0" anchor="ctr"/>
          <a:lstStyle/>
          <a:p>
            <a:pPr indent="0" marL="0">
              <a:buNone/>
            </a:pPr>
            <a:r>
              <a:rPr lang="en-US" sz="1700" b="1" dirty="0">
                <a:solidFill>
                  <a:schemeClr val="bg1"/>
                </a:solidFill>
              </a:rPr>
              <a:t>Next 3 months</a:t>
            </a:r>
            <a:endParaRPr lang="en-US" sz="1700" dirty="0"/>
          </a:p>
          <a:p>
            <a:pPr indent="0" marL="0">
              <a:buNone/>
            </a:pPr>
            <a:r>
              <a:rPr lang="en-US" sz="1300" dirty="0">
                <a:solidFill>
                  <a:schemeClr val="accent2"/>
                </a:solidFill>
              </a:rPr>
              <a:t>Real BMET licence sync, bKash checkout, 100 pilot families via migrant NGOs</a:t>
            </a:r>
            <a:endParaRPr lang="en-US" sz="1700" dirty="0"/>
          </a:p>
        </p:txBody>
      </p:sp>
      <p:sp>
        <p:nvSpPr>
          <p:cNvPr id="14" name="roadmap 12 months circle"/>
          <p:cNvSpPr/>
          <p:nvPr/>
        </p:nvSpPr>
        <p:spPr>
          <a:xfrm>
            <a:off x="6217920" y="4754880"/>
            <a:ext cx="777240" cy="777240"/>
          </a:xfrm>
          <a:prstGeom prst="ellipse">
            <a:avLst/>
          </a:prstGeom>
          <a:solidFill>
            <a:srgbClr val="A4AC86"/>
          </a:solidFill>
          <a:ln w="12700">
            <a:solidFill>
              <a:srgbClr val="A4AC86"/>
            </a:solidFill>
            <a:prstDash val="solid"/>
          </a:ln>
        </p:spPr>
      </p:sp>
      <p:pic>
        <p:nvPicPr>
          <p:cNvPr id="15" name="roadmap 12 months icon" descr="roadmap 12 months">    </p:cNvPr>
          <p:cNvPicPr>
            <a:picLocks noChangeAspect="1"/>
          </p:cNvPicPr>
          <p:nvPr/>
        </p:nvPicPr>
        <p:blipFill>
          <a:blip r:embed="rId4"/>
          <a:stretch>
            <a:fillRect/>
          </a:stretch>
        </p:blipFill>
        <p:spPr>
          <a:xfrm>
            <a:off x="6404458" y="4941418"/>
            <a:ext cx="404165" cy="404165"/>
          </a:xfrm>
          <a:prstGeom prst="rect">
            <a:avLst/>
          </a:prstGeom>
        </p:spPr>
      </p:pic>
      <p:sp>
        <p:nvSpPr>
          <p:cNvPr id="16" name="Text 10"/>
          <p:cNvSpPr txBox="1"/>
          <p:nvPr/>
        </p:nvSpPr>
        <p:spPr>
          <a:xfrm>
            <a:off x="7223760" y="4663440"/>
            <a:ext cx="4389120" cy="1005840"/>
          </a:xfrm>
          <a:prstGeom prst="rect">
            <a:avLst/>
          </a:prstGeom>
          <a:noFill/>
          <a:ln/>
        </p:spPr>
        <p:txBody>
          <a:bodyPr wrap="square" lIns="0" tIns="0" rIns="0" bIns="0" rtlCol="0" anchor="ctr"/>
          <a:lstStyle/>
          <a:p>
            <a:pPr indent="0" marL="0">
              <a:buNone/>
            </a:pPr>
            <a:r>
              <a:rPr lang="en-US" sz="1700" b="1" dirty="0">
                <a:solidFill>
                  <a:schemeClr val="bg1"/>
                </a:solidFill>
              </a:rPr>
              <a:t>12 months</a:t>
            </a:r>
            <a:endParaRPr lang="en-US" sz="1700" dirty="0"/>
          </a:p>
          <a:p>
            <a:pPr indent="0" marL="0">
              <a:buNone/>
            </a:pPr>
            <a:r>
              <a:rPr lang="en-US" sz="1300" dirty="0">
                <a:solidFill>
                  <a:schemeClr val="accent2"/>
                </a:solidFill>
              </a:rPr>
              <a:t>Nepal &amp; Pakistan data packs; licensed remittance &amp; insurance partners</a:t>
            </a:r>
            <a:endParaRPr lang="en-US" sz="1700" dirty="0"/>
          </a:p>
        </p:txBody>
      </p:sp>
      <p:sp>
        <p:nvSpPr>
          <p:cNvPr id="25" name="Slide Number Placeholder 0"/>
          <p:cNvSpPr>
            <a:spLocks noGrp="1"/>
          </p:cNvSpPr>
          <p:nvPr>
            <p:ph type="sldNum" sz="quarter" idx="4294967295"/>
          </p:nvPr>
        </p:nvSpPr>
        <p:spPr>
          <a:xfrm>
            <a:off x="1124712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orest Canopy">
  <a:themeElements>
    <a:clrScheme name="Forest Canopy">
      <a:dk1>
        <a:srgbClr val="1D2A1C"/>
      </a:dk1>
      <a:lt1>
        <a:srgbClr val="FFFFFF"/>
      </a:lt1>
      <a:dk2>
        <a:srgbClr val="2D4A2B"/>
      </a:dk2>
      <a:lt2>
        <a:srgbClr val="F1F0E8"/>
      </a:lt2>
      <a:accent1>
        <a:srgbClr val="2D4A2B"/>
      </a:accent1>
      <a:accent2>
        <a:srgbClr val="A4AC86"/>
      </a:accent2>
      <a:accent3>
        <a:srgbClr val="B5452F"/>
      </a:accent3>
      <a:accent4>
        <a:srgbClr val="7D8471"/>
      </a:accent4>
      <a:accent5>
        <a:srgbClr val="2F7D3A"/>
      </a:accent5>
      <a:accent6>
        <a:srgbClr val="D8A31A"/>
      </a:accent6>
      <a:hlink>
        <a:srgbClr val="2D4A2B"/>
      </a:hlink>
      <a:folHlink>
        <a:srgbClr val="7D8471"/>
      </a:folHlink>
    </a:clrScheme>
    <a:fontScheme name="Forest Canop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Probashi AI: Check before you pay</dc:title>
  <dc:subject>PptxGenJS Presentation</dc:subject>
  <dc:creator>Probashi AI</dc:creator>
  <cp:lastModifiedBy>Probashi AI</cp:lastModifiedBy>
  <cp:revision>1</cp:revision>
  <dcterms:created xsi:type="dcterms:W3CDTF">2026-10-25T05:41:21Z</dcterms:created>
  <dcterms:modified xsi:type="dcterms:W3CDTF">2026-10-25T05:41:21Z</dcterms:modified>
</cp:coreProperties>
</file>